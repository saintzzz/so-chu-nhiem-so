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4400" b="1">
                <a:solidFill>
                  <a:srgbClr val="FFFFFF"/>
                </a:solidFill>
              </a:rPr>
              <a:t>SỔ CHỦ NHIỆM SỐ</a:t>
            </a:r>
          </a:p>
          <a:p>
            <a:pPr/>
            <a:r>
              <a:rPr sz="2000" b="0">
                <a:solidFill>
                  <a:srgbClr val="DBEAFE"/>
                </a:solidFill>
              </a:rPr>
              <a:t>Nền tảng số hóa công tác chủ nhiệm &amp; quản lý trường học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12064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BFDBFE"/>
                </a:solidFill>
              </a:rPr>
              <a:t>https://so-chu-nhiem-so-theta.vercel.app - Demo: chọn vai trò, mật khẩu demo1234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800" b="1">
                <a:solidFill>
                  <a:srgbClr val="1D4ED8"/>
                </a:solidFill>
              </a:rPr>
              <a:t>Tổng quan hệ thống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51206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0">
                <a:solidFill>
                  <a:srgbClr val="1F2937"/>
                </a:solidFill>
              </a:rPr>
              <a:t>- Số hóa toàn bộ sổ chủ nhiệm giấy: điểm danh, sổ đầu bài, sổ điểm, rèn luyện, tư vấn, liên lạc phụ huynh, hoạt động giáo dục, an toàn, thi đua, báo cáo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Một dữ liệu nghiệp vụ - đồng bộ nhiều màn hình (vắng tiết học tự cập nhật điểm danh ngày)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Phân quyền theo vai trò ở cả UI, route và Row-Level-Security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Hỗ trợ Tiểu học / THCS / THPT, nhiều cơ sở (phân hiệu)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AI 3 tuyến: LLM cấu hình được - Devin async - rule-based fallback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Chuẩn TT22/2021: điểm thành phần hệ số 1-2-3, ĐTBm HK1/HK2/cả năm</a:t>
            </a:r>
          </a:p>
        </p:txBody>
      </p:sp>
      <p:pic>
        <p:nvPicPr>
          <p:cNvPr id="5" name="Picture 4" descr="02-gvcn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9455" y="1234440"/>
            <a:ext cx="6035040" cy="3771900"/>
          </a:xfrm>
          <a:prstGeom prst="rect">
            <a:avLst/>
          </a:prstGeom>
          <a:ln>
            <a:solidFill>
              <a:srgbClr val="D1D5D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699455" y="505206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100" b="0">
                <a:solidFill>
                  <a:srgbClr val="6B7280"/>
                </a:solidFill>
              </a:rPr>
              <a:t>Dashboard giáo viên chủ nhiệm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800" b="1">
                <a:solidFill>
                  <a:srgbClr val="1D4ED8"/>
                </a:solidFill>
              </a:rPr>
              <a:t>11 vai trò - phạm vi dữ liệu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188720"/>
          <a:ext cx="11094415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3603"/>
                <a:gridCol w="2773603"/>
                <a:gridCol w="2773603"/>
                <a:gridCol w="2773606"/>
              </a:tblGrid>
              <a:tr h="950976">
                <a:tc>
                  <a:txBody>
                    <a:bodyPr/>
                    <a:lstStyle/>
                    <a:p>
                      <a:r>
                        <a:rPr sz="1400"/>
                        <a:t>GVCN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Lớp chủ nhiệm + lịch dạy cá nhân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GVBM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Điểm các lớp dạy, giáo án</a:t>
                      </a:r>
                    </a:p>
                  </a:txBody>
                  <a:tcPr/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400"/>
                        <a:t>Tổ trưởng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Duyệt giáo án, đánh giá năng lực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BGH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Toàn trường: duyệt, TKB, radar, AI</a:t>
                      </a:r>
                    </a:p>
                  </a:txBody>
                  <a:tcPr/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400"/>
                        <a:t>PHT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Như BGH, giới hạn campus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Kế toán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Nhân sự, TT15 cơ sở vật chất</a:t>
                      </a:r>
                    </a:p>
                  </a:txBody>
                  <a:tcPr/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400"/>
                        <a:t>Sở GD&amp;ĐT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Tổng hợp nhiều trường, quản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Phòng GD/UBND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Dashboard địa bàn</a:t>
                      </a:r>
                    </a:p>
                  </a:txBody>
                  <a:tcPr/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400"/>
                        <a:t>Phụ huynh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Con mình: tin nhắn, lịch hẹn, đăng ký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Học sinh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TKB, điểm, hạnh kiểu của mình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800" b="1">
                <a:solidFill>
                  <a:srgbClr val="1D4ED8"/>
                </a:solidFill>
              </a:rPr>
              <a:t>Chuyên cần - điểm danh số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51206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0">
                <a:solidFill>
                  <a:srgbClr val="1F2937"/>
                </a:solidFill>
              </a:rPr>
              <a:t>- 4 trạng thái/em: Có mặt, Vắng CP, Vắng KP, Đi muộn + thao tác nhanh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Chọn ngày bất kỳ để xem lại / sửa điểm danh ngày cũ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Sổ vắng-muộn và lịch sử theo khoảng ngày (from - to)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Ma trận HS x ngày phát hiện vắng liên tục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Thông báo phụ huynh tự động (email + in-app)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Đồng bộ 2 chiều với sổ đầu bài tiết học</a:t>
            </a:r>
          </a:p>
        </p:txBody>
      </p:sp>
      <p:pic>
        <p:nvPicPr>
          <p:cNvPr id="5" name="Picture 4" descr="03-attendance-dai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9455" y="1234440"/>
            <a:ext cx="6035040" cy="3771900"/>
          </a:xfrm>
          <a:prstGeom prst="rect">
            <a:avLst/>
          </a:prstGeom>
          <a:ln>
            <a:solidFill>
              <a:srgbClr val="D1D5D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699455" y="505206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100" b="0">
                <a:solidFill>
                  <a:srgbClr val="6B7280"/>
                </a:solidFill>
              </a:rPr>
              <a:t>Điểm danh hàng ngày - 6 thẻ tổng + chọn ngày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800" b="1">
                <a:solidFill>
                  <a:srgbClr val="1D4ED8"/>
                </a:solidFill>
              </a:rPr>
              <a:t>Sổ điểm giáo viên - chuẩn TT22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51206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0">
                <a:solidFill>
                  <a:srgbClr val="1F2937"/>
                </a:solidFill>
              </a:rPr>
              <a:t>- Cột điểm động: Miệng / 15 phút / 1 tiết (hệ số 1), Giữa kỳ (x2), Cuối kỳ (x3)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Thêm/xóa cột tự do - mỗi GV tự cấu trúc sổ điểm của mình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ĐTBm tự tính đúng hệ số TT22, hiển thị HK1 / HK2 / cả năm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Import/export Excel, tải template mẫu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Môn đánh giá bằng nhận xét hiển thị Đạt / Chưa đạt</a:t>
            </a:r>
          </a:p>
        </p:txBody>
      </p:sp>
      <p:pic>
        <p:nvPicPr>
          <p:cNvPr id="5" name="Picture 4" descr="07-grad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9455" y="1234440"/>
            <a:ext cx="6035040" cy="3771900"/>
          </a:xfrm>
          <a:prstGeom prst="rect">
            <a:avLst/>
          </a:prstGeom>
          <a:ln>
            <a:solidFill>
              <a:srgbClr val="D1D5D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699455" y="505206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100" b="0">
                <a:solidFill>
                  <a:srgbClr val="6B7280"/>
                </a:solidFill>
              </a:rPr>
              <a:t>Sổ điểm cột động theo Thông tư 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800" b="1">
                <a:solidFill>
                  <a:srgbClr val="1D4ED8"/>
                </a:solidFill>
              </a:rPr>
              <a:t>Thời khóa biểu &amp; Sổ đầu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51206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0">
                <a:solidFill>
                  <a:srgbClr val="1F2937"/>
                </a:solidFill>
              </a:rPr>
              <a:t>- 2 chế độ: lịch cá nhân (mọi GV) + theo lớp (GVCN xem lớp CN, BGH toàn trường)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Ô tiết cá nhân: lớp - môn - phòng; slot xung đột hiển thị đủ và cảnh báo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Sổ đầu bài tách 3 trường: tên bài / nội dung / nhận xét GV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Điểm danh theo tiết đồng bộ sang chuyên cần ngày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Cộng/trừ điểm rèn luyện ngay trong sổ đầu bài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BGH import TKB hàng loạt từ Excel</a:t>
            </a:r>
          </a:p>
        </p:txBody>
      </p:sp>
      <p:pic>
        <p:nvPicPr>
          <p:cNvPr id="5" name="Picture 4" descr="08-timetable-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9455" y="1234440"/>
            <a:ext cx="6035040" cy="3771900"/>
          </a:xfrm>
          <a:prstGeom prst="rect">
            <a:avLst/>
          </a:prstGeom>
          <a:ln>
            <a:solidFill>
              <a:srgbClr val="D1D5D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699455" y="505206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100" b="0">
                <a:solidFill>
                  <a:srgbClr val="6B7280"/>
                </a:solidFill>
              </a:rPr>
              <a:t>Lịch dạy cá nhân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800" b="1">
                <a:solidFill>
                  <a:srgbClr val="1D4ED8"/>
                </a:solidFill>
              </a:rPr>
              <a:t>Sơ đồ lớp &amp; hồ sơ học sinh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51206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0">
                <a:solidFill>
                  <a:srgbClr val="1F2937"/>
                </a:solidFill>
              </a:rPr>
              <a:t>- Sơ đồ chỗ ngồi kéo-thả, thêm/bớt hàng cột linh hoạt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Import danh sách HS Excel (mã HS quốc gia, dân tộc, hoàn cảnh)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Chia tổ, ban cán sự, liên kết phụ huynh ngay trên danh sách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Hồ sơ từng em: định danh, gia đình, sức khỏe - audit mọi thay đổi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AI tổng hợp báo cáo hồ sơ lớp</a:t>
            </a:r>
          </a:p>
        </p:txBody>
      </p:sp>
      <p:pic>
        <p:nvPicPr>
          <p:cNvPr id="5" name="Picture 4" descr="11-sea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9455" y="1234440"/>
            <a:ext cx="6035040" cy="3771900"/>
          </a:xfrm>
          <a:prstGeom prst="rect">
            <a:avLst/>
          </a:prstGeom>
          <a:ln>
            <a:solidFill>
              <a:srgbClr val="D1D5D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699455" y="505206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100" b="0">
                <a:solidFill>
                  <a:srgbClr val="6B7280"/>
                </a:solidFill>
              </a:rPr>
              <a:t>Sơ đồ chỗ ngồi - resize hàng/cột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800" b="1">
                <a:solidFill>
                  <a:srgbClr val="1D4ED8"/>
                </a:solidFill>
              </a:rPr>
              <a:t>Rèn luyện - Tư vấn - An toàn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51206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0">
                <a:solidFill>
                  <a:srgbClr val="1F2937"/>
                </a:solidFill>
              </a:rPr>
              <a:t>- Sổ rèn luyện: cộng/trừ điểm theo tiêu chí, nguồn từ sổ đầu bài / sự cố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Tư vấn học sinh: hồ sơ phiên tư vấn, phân loại, theo dõi tiến triển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Sự cố an toàn: 6 loại, 4 mức độ, báo cáo lên BGH, audit đầy đủ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Thi đua tuần: chấm tiêu chí xếp hạng lớp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AI đề xuất can thiệp theo hồ sơ</a:t>
            </a:r>
          </a:p>
        </p:txBody>
      </p:sp>
      <p:pic>
        <p:nvPicPr>
          <p:cNvPr id="5" name="Picture 4" descr="15-safe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9455" y="1234440"/>
            <a:ext cx="6035040" cy="3771900"/>
          </a:xfrm>
          <a:prstGeom prst="rect">
            <a:avLst/>
          </a:prstGeom>
          <a:ln>
            <a:solidFill>
              <a:srgbClr val="D1D5D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699455" y="505206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100" b="0">
                <a:solidFill>
                  <a:srgbClr val="6B7280"/>
                </a:solidFill>
              </a:rPr>
              <a:t>Sổ sự cố an toàn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800" b="1">
                <a:solidFill>
                  <a:srgbClr val="1D4ED8"/>
                </a:solidFill>
              </a:rPr>
              <a:t>BGH - điều hành trường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51206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0">
                <a:solidFill>
                  <a:srgbClr val="1F2937"/>
                </a:solidFill>
              </a:rPr>
              <a:t>- Trung tâm phê duyệt: kế hoạch HĐ, giáo án, đánh giá - một nơi xử lý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Radar cảnh báo sớm: lớp/HS rủi ro theo chuyên cần + điểm + sự cố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Soạn + import TKB toàn trường, xem theo lớp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Ký duyệt sổ chủ nhiệm, khóa sổ theo đợt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Trợ lý AI điều hành hỏi-đáp trên dữ liệu thật</a:t>
            </a:r>
          </a:p>
        </p:txBody>
      </p:sp>
      <p:pic>
        <p:nvPicPr>
          <p:cNvPr id="5" name="Picture 4" descr="23-bgh-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9455" y="1234440"/>
            <a:ext cx="6035040" cy="3771900"/>
          </a:xfrm>
          <a:prstGeom prst="rect">
            <a:avLst/>
          </a:prstGeom>
          <a:ln>
            <a:solidFill>
              <a:srgbClr val="D1D5D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699455" y="505206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100" b="0">
                <a:solidFill>
                  <a:srgbClr val="6B7280"/>
                </a:solidFill>
              </a:rPr>
              <a:t>Radar cảnh báo sớm toàn trường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800" b="1">
                <a:solidFill>
                  <a:srgbClr val="1D4ED8"/>
                </a:solidFill>
              </a:rPr>
              <a:t>Phụ huynh &amp; Học sinh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51206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0">
                <a:solidFill>
                  <a:srgbClr val="1F2937"/>
                </a:solidFill>
              </a:rPr>
              <a:t>- Phụ huynh: thông báo lớp, nhắn tin 2 chiều với GVCN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Đặt lịch hẹn trực tuyến - GVCN xác nhận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Đăng ký hoạt động giáo dục cho con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Học sinh: TKB, điểm số, hạnh kiểu, thông báo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Portal riêng, không cần quyền vào hệ thống nội bộ</a:t>
            </a:r>
          </a:p>
        </p:txBody>
      </p:sp>
      <p:pic>
        <p:nvPicPr>
          <p:cNvPr id="5" name="Picture 4" descr="30-parent-por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9455" y="1234440"/>
            <a:ext cx="6035040" cy="3771900"/>
          </a:xfrm>
          <a:prstGeom prst="rect">
            <a:avLst/>
          </a:prstGeom>
          <a:ln>
            <a:solidFill>
              <a:srgbClr val="D1D5D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699455" y="505206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100" b="0">
                <a:solidFill>
                  <a:srgbClr val="6B7280"/>
                </a:solidFill>
              </a:rPr>
              <a:t>Portal phụ huynh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800" b="1">
                <a:solidFill>
                  <a:srgbClr val="1D4ED8"/>
                </a:solidFill>
              </a:rPr>
              <a:t>AI hỗ trợ - 3 tuyến dự phòng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51206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0">
                <a:solidFill>
                  <a:srgbClr val="1F2937"/>
                </a:solidFill>
              </a:rPr>
              <a:t>- Tuyến 1: LLM cấu hình qua env - Gemini / OpenAI / Anthropic, đổi provider bằng AI_PROVIDER + AI_MODEL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Tuyến 2: Devin async - hết quota LLM thì tạo session xử lý, callback trả kết quả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Tuyến 3: rule-based fallback - luôn có câu trả lời hữu ích kể cả khi mọi backend chết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Ứng dụng: báo cáo hồ sơ lớp, nhận xét giáo án, gợi ý cảnh báo, trợ lý điều hành, phân tích sổ đầu bài, biên bản sinh hoạt, báo cáo Sở</a:t>
            </a:r>
          </a:p>
        </p:txBody>
      </p:sp>
      <p:pic>
        <p:nvPicPr>
          <p:cNvPr id="5" name="Picture 4" descr="25-bgh-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9455" y="1234440"/>
            <a:ext cx="6035040" cy="3771900"/>
          </a:xfrm>
          <a:prstGeom prst="rect">
            <a:avLst/>
          </a:prstGeom>
          <a:ln>
            <a:solidFill>
              <a:srgbClr val="D1D5D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699455" y="505206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100" b="0">
                <a:solidFill>
                  <a:srgbClr val="6B7280"/>
                </a:solidFill>
              </a:rPr>
              <a:t>Trợ lý AI điều hành của BGH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800" b="1">
                <a:solidFill>
                  <a:srgbClr val="1D4ED8"/>
                </a:solidFill>
              </a:rPr>
              <a:t>Báo cáo &amp; bảo mật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51206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 b="0">
                <a:solidFill>
                  <a:srgbClr val="1F2937"/>
                </a:solidFill>
              </a:rPr>
              <a:t>- Xuất sổ chủ nhiệm, báo cáo Sở/Phòng (CSV/Excel), sổ cá nhân GV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RBAC ở 3 tầng: UI - route guard - Postgres RLS theo trường/quan hệ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Audit log mọi hành động quan trọng, trang xem cho BGH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Notification in-app cho mọi hành động ảnh hưởng người khác</a:t>
            </a:r>
          </a:p>
          <a:p>
            <a:pPr/>
            <a:r>
              <a:rPr sz="1500" b="0">
                <a:solidFill>
                  <a:srgbClr val="1F2937"/>
                </a:solidFill>
              </a:rPr>
              <a:t>- Responsive mobile, sắp xếp tên theo quy tắc Việt Nam</a:t>
            </a:r>
          </a:p>
        </p:txBody>
      </p:sp>
      <p:pic>
        <p:nvPicPr>
          <p:cNvPr id="5" name="Picture 4" descr="20-ex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9455" y="1234440"/>
            <a:ext cx="6035040" cy="3771900"/>
          </a:xfrm>
          <a:prstGeom prst="rect">
            <a:avLst/>
          </a:prstGeom>
          <a:ln>
            <a:solidFill>
              <a:srgbClr val="D1D5D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699455" y="505206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100" b="0">
                <a:solidFill>
                  <a:srgbClr val="6B7280"/>
                </a:solidFill>
              </a:rPr>
              <a:t>Xuất sổ &amp; báo cáo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628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3600" b="1">
                <a:solidFill>
                  <a:srgbClr val="FFFFFF"/>
                </a:solidFill>
              </a:rPr>
              <a:t>Bắt đầu sử dụng</a:t>
            </a:r>
          </a:p>
          <a:p>
            <a:pPr/>
            <a:r>
              <a:rPr sz="2000" b="0">
                <a:solidFill>
                  <a:srgbClr val="93C5FD"/>
                </a:solidFill>
              </a:rPr>
              <a:t>https://so-chu-nhiem-so-theta.vercel.app</a:t>
            </a:r>
          </a:p>
          <a:p>
            <a:pPr/>
            <a:r>
              <a:rPr sz="1600" b="0">
                <a:solidFill>
                  <a:srgbClr val="D1D5DB"/>
                </a:solidFill>
              </a:rPr>
              <a:t>Chọn vai trò demo tại màn hình đăng nhập - mật khẩu: demo1234</a:t>
            </a:r>
          </a:p>
          <a:p>
            <a:pPr/>
            <a:r>
              <a:rPr sz="1400" b="0">
                <a:solidFill>
                  <a:srgbClr val="9CA3AF"/>
                </a:solidFill>
              </a:rPr>
              <a:t>Tài liệu đầy đủ: docs/user-guide/SO-CHU-NHIEM-SO-TAI-LIEU.docx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