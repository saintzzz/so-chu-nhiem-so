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194560"/>
            <a:ext cx="10362895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4400" b="1">
                <a:solidFill>
                  <a:srgbClr val="FFFFFF"/>
                </a:solidFill>
              </a:rPr>
              <a:t>SỔ CHỦ NHIỆM SỐ</a:t>
            </a:r>
          </a:p>
          <a:p>
            <a:pPr/>
            <a:r>
              <a:rPr sz="2000" b="0">
                <a:solidFill>
                  <a:srgbClr val="DBEAFE"/>
                </a:solidFill>
              </a:rPr>
              <a:t>Nền tảng số hóa công tác chủ nhiệm &amp; quản lý trường học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5120640"/>
            <a:ext cx="103628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400" b="0">
                <a:solidFill>
                  <a:srgbClr val="BFDBFE"/>
                </a:solidFill>
              </a:rPr>
              <a:t>https://sochunhiem.vieschool.com - Demo: anhptl@nd.scn..., mật khẩu demo1234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800" b="1">
                <a:solidFill>
                  <a:srgbClr val="1D4ED8"/>
                </a:solidFill>
              </a:rPr>
              <a:t>Tổng quan hệ thống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34440"/>
            <a:ext cx="51206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500" b="0">
                <a:solidFill>
                  <a:srgbClr val="1F2937"/>
                </a:solidFill>
              </a:rPr>
              <a:t>- Số hóa toàn bộ sổ chủ nhiệm giấy: điểm danh, sổ đầu bài, sổ điểm, rèn luyện, tư vấn, liên lạc phụ huynh, hoạt động giáo dục, an toàn, thi đua, báo cáo</a:t>
            </a:r>
          </a:p>
          <a:p>
            <a:pPr/>
            <a:r>
              <a:rPr sz="1500" b="0">
                <a:solidFill>
                  <a:srgbClr val="1F2937"/>
                </a:solidFill>
              </a:rPr>
              <a:t>- TVC360 Studio: soạn KHBD (CV 5512), ma trận đề, đề kiểm tra, ngân hàng câu hỏi chung của trường - xuất DOCX/PDF/PPTX</a:t>
            </a:r>
          </a:p>
          <a:p>
            <a:pPr/>
            <a:r>
              <a:rPr sz="1500" b="0">
                <a:solidFill>
                  <a:srgbClr val="1F2937"/>
                </a:solidFill>
              </a:rPr>
              <a:t>- Vai trò kiêm nhiệm: GVCN kiêm dạy + tổ trưởng, quyền gộp nhất quán UI - action - RLS</a:t>
            </a:r>
          </a:p>
          <a:p>
            <a:pPr/>
            <a:r>
              <a:rPr sz="1500" b="0">
                <a:solidFill>
                  <a:srgbClr val="1F2937"/>
                </a:solidFill>
              </a:rPr>
              <a:t>- Một dữ liệu nghiệp vụ - đồng bộ nhiều màn hình (vắng tiết học tự cập nhật điểm danh ngày)</a:t>
            </a:r>
          </a:p>
          <a:p>
            <a:pPr/>
            <a:r>
              <a:rPr sz="1500" b="0">
                <a:solidFill>
                  <a:srgbClr val="1F2937"/>
                </a:solidFill>
              </a:rPr>
              <a:t>- Hỗ trợ Tiểu học / THCS / THPT, nhiều cơ sở (phân hiệu); multi-tenant RLS theo trường</a:t>
            </a:r>
          </a:p>
          <a:p>
            <a:pPr/>
            <a:r>
              <a:rPr sz="1500" b="0">
                <a:solidFill>
                  <a:srgbClr val="1F2937"/>
                </a:solidFill>
              </a:rPr>
              <a:t>- AI 3 tuyến: LLM cấu hình được - engine async - rule-based fallback; sanitizer kiểm chứng nội dung</a:t>
            </a:r>
          </a:p>
          <a:p>
            <a:pPr/>
            <a:r>
              <a:rPr sz="1500" b="0">
                <a:solidFill>
                  <a:srgbClr val="1F2937"/>
                </a:solidFill>
              </a:rPr>
              <a:t>- Chuẩn TT22/2021: điểm thành phần hệ số 1-2-3, ĐTBm HK1/HK2/cả năm</a:t>
            </a:r>
          </a:p>
        </p:txBody>
      </p:sp>
      <p:pic>
        <p:nvPicPr>
          <p:cNvPr id="5" name="Picture 4" descr="02-gvcn-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99455" y="1234440"/>
            <a:ext cx="6035040" cy="3771900"/>
          </a:xfrm>
          <a:prstGeom prst="rect">
            <a:avLst/>
          </a:prstGeom>
          <a:ln>
            <a:solidFill>
              <a:srgbClr val="D1D5DB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5699455" y="5052060"/>
            <a:ext cx="6035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100" b="0">
                <a:solidFill>
                  <a:srgbClr val="6B7280"/>
                </a:solidFill>
              </a:rPr>
              <a:t>Dashboard giáo viên chủ nhiệm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800" b="1">
                <a:solidFill>
                  <a:srgbClr val="1D4ED8"/>
                </a:solidFill>
              </a:rPr>
              <a:t>10 vai trò - phạm vi dữ liệu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188720"/>
          <a:ext cx="11094415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73603"/>
                <a:gridCol w="2773603"/>
                <a:gridCol w="2773603"/>
                <a:gridCol w="2773606"/>
              </a:tblGrid>
              <a:tr h="950976">
                <a:tc>
                  <a:txBody>
                    <a:bodyPr/>
                    <a:lstStyle/>
                    <a:p>
                      <a:r>
                        <a:rPr sz="1400"/>
                        <a:t>GVCN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Lớp chủ nhiệm + lịch dạy cá nhân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GVBM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Điểm/sổ đầu bài đúng lớp-môn được phân công</a:t>
                      </a:r>
                    </a:p>
                  </a:txBody>
                  <a:tcPr/>
                </a:tc>
              </a:tr>
              <a:tr h="950976">
                <a:tc>
                  <a:txBody>
                    <a:bodyPr/>
                    <a:lstStyle/>
                    <a:p>
                      <a:r>
                        <a:rPr sz="1400"/>
                        <a:t>Tổ trưởng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Duyệt giáo án, đánh giá năng lực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BGH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Toàn trường: ký sổ, phân công, duyệt, radar</a:t>
                      </a:r>
                    </a:p>
                  </a:txBody>
                  <a:tcPr/>
                </a:tc>
              </a:tr>
              <a:tr h="950976">
                <a:tc>
                  <a:txBody>
                    <a:bodyPr/>
                    <a:lstStyle/>
                    <a:p>
                      <a:r>
                        <a:rPr sz="1400"/>
                        <a:t>PHT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Vận hành trường - không ký sổ/phân công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Kế toán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Nhân sự, CSVC, NQ37 - không xem hồ sơ HS</a:t>
                      </a:r>
                    </a:p>
                  </a:txBody>
                  <a:tcPr/>
                </a:tc>
              </a:tr>
              <a:tr h="950976">
                <a:tc>
                  <a:txBody>
                    <a:bodyPr/>
                    <a:lstStyle/>
                    <a:p>
                      <a:r>
                        <a:rPr sz="1400"/>
                        <a:t>Sở GD&amp;ĐT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Tổng hợp nhiều trường, quản trị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UBND cấp xã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Dashboard địa bàn</a:t>
                      </a:r>
                    </a:p>
                  </a:txBody>
                  <a:tcPr/>
                </a:tc>
              </a:tr>
              <a:tr h="950976">
                <a:tc>
                  <a:txBody>
                    <a:bodyPr/>
                    <a:lstStyle/>
                    <a:p>
                      <a:r>
                        <a:rPr sz="1400"/>
                        <a:t>Phụ huynh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Con mình (nhiều con): tin nhắn, lịch hẹn, đăng ký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Học sinh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TKB, điểm, hạnh kiểm của mình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800" b="1">
                <a:solidFill>
                  <a:srgbClr val="1D4ED8"/>
                </a:solidFill>
              </a:rPr>
              <a:t>Vai trò kiêm nhiệm - đúng thực tế trường Việt Nam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34440"/>
            <a:ext cx="51206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500" b="0">
                <a:solidFill>
                  <a:srgbClr val="1F2937"/>
                </a:solidFill>
              </a:rPr>
              <a:t>- 1 vai trò chính + nhiều vai trò kiêm nhiệm: GVCN kiêm GVBM + tổ trưởng, PHT/Hiệu trưởng kiêm dạy</a:t>
            </a:r>
          </a:p>
          <a:p>
            <a:pPr/>
            <a:r>
              <a:rPr sz="1500" b="0">
                <a:solidFill>
                  <a:srgbClr val="1F2937"/>
                </a:solidFill>
              </a:rPr>
              <a:t>- Quyền = hợp mọi vai trò, tính nhất quán 3 tầng: menu gộp + topbar đủ nhãn, server action, 158 RLS policies (my_roles)</a:t>
            </a:r>
          </a:p>
          <a:p>
            <a:pPr/>
            <a:r>
              <a:rPr sz="1500" b="0">
                <a:solidFill>
                  <a:srgbClr val="1F2937"/>
                </a:solidFill>
              </a:rPr>
              <a:t>- BGH gán kiêm nhiệm tại /school/users - user tự sửa bị trigger DB chặn (chống leo quyền)</a:t>
            </a:r>
          </a:p>
          <a:p>
            <a:pPr/>
            <a:r>
              <a:rPr sz="1500" b="0">
                <a:solidFill>
                  <a:srgbClr val="1F2937"/>
                </a:solidFill>
              </a:rPr>
              <a:t>- Grant xung đột giữa vai trò kiêm: deny thắng; chỉ vai trò nhân sự được kiêm</a:t>
            </a:r>
          </a:p>
          <a:p>
            <a:pPr/>
            <a:r>
              <a:rPr sz="1500" b="0">
                <a:solidFill>
                  <a:srgbClr val="1F2937"/>
                </a:solidFill>
              </a:rPr>
              <a:t>- Menu chỉ hiện chức năng được cấp - audit tự động bằng check-nav-access (158 links)</a:t>
            </a:r>
          </a:p>
        </p:txBody>
      </p:sp>
      <p:pic>
        <p:nvPicPr>
          <p:cNvPr id="5" name="Picture 4" descr="26-team-lesson-pla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99455" y="1234440"/>
            <a:ext cx="6035040" cy="3771900"/>
          </a:xfrm>
          <a:prstGeom prst="rect">
            <a:avLst/>
          </a:prstGeom>
          <a:ln>
            <a:solidFill>
              <a:srgbClr val="D1D5DB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5699455" y="5052060"/>
            <a:ext cx="6035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100" b="0">
                <a:solidFill>
                  <a:srgbClr val="6B7280"/>
                </a:solidFill>
              </a:rPr>
              <a:t>GVCN kiêm tổ trưởng vào được queue duyệt giáo án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800" b="1">
                <a:solidFill>
                  <a:srgbClr val="1D4ED8"/>
                </a:solidFill>
              </a:rPr>
              <a:t>Studio - công cụ số giáo viên (TVC360)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34440"/>
            <a:ext cx="51206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500" b="0">
                <a:solidFill>
                  <a:srgbClr val="1F2937"/>
                </a:solidFill>
              </a:rPr>
              <a:t>- 6 công cụ DC-01..06: KHBĐ khung CV 5512, ma trận đề, đề từ ngân hàng, bộ câu hỏi, phiếu học tập, bài trình chiếu</a:t>
            </a:r>
          </a:p>
          <a:p>
            <a:pPr/>
            <a:r>
              <a:rPr sz="1500" b="0">
                <a:solidFill>
                  <a:srgbClr val="1F2937"/>
                </a:solidFill>
              </a:rPr>
              <a:t>- Ngân hàng câu hỏi chung của trường gắn YCCĐ: import tay/Excel/ảnh-PDF, duyệt 2 lớp (tổ → BGH)</a:t>
            </a:r>
          </a:p>
          <a:p>
            <a:pPr/>
            <a:r>
              <a:rPr sz="1500" b="0">
                <a:solidFill>
                  <a:srgbClr val="1F2937"/>
                </a:solidFill>
              </a:rPr>
              <a:t>- Hình Toán vẽ SVG tham số (deterministic), LaTeX $...$ → Word Equation native khi xuất DOCX</a:t>
            </a:r>
          </a:p>
          <a:p>
            <a:pPr/>
            <a:r>
              <a:rPr sz="1500" b="0">
                <a:solidFill>
                  <a:srgbClr val="1F2937"/>
                </a:solidFill>
              </a:rPr>
              <a:t>- AI sinh qua schema + YCCĐ gate + sanitizer; hết quota → fallback engine / rule-based</a:t>
            </a:r>
          </a:p>
          <a:p>
            <a:pPr/>
            <a:r>
              <a:rPr sz="1500" b="0">
                <a:solidFill>
                  <a:srgbClr val="1F2937"/>
                </a:solidFill>
              </a:rPr>
              <a:t>- Xuất DOCX/PDF/PPTX; đề kèm đáp án - hướng dẫn chấm - biên bản phản biện</a:t>
            </a:r>
          </a:p>
        </p:txBody>
      </p:sp>
      <p:pic>
        <p:nvPicPr>
          <p:cNvPr id="5" name="Picture 4" descr="17-exam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99455" y="1234440"/>
            <a:ext cx="6035040" cy="3771900"/>
          </a:xfrm>
          <a:prstGeom prst="rect">
            <a:avLst/>
          </a:prstGeom>
          <a:ln>
            <a:solidFill>
              <a:srgbClr val="D1D5DB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5699455" y="5052060"/>
            <a:ext cx="6035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100" b="0">
                <a:solidFill>
                  <a:srgbClr val="6B7280"/>
                </a:solidFill>
              </a:rPr>
              <a:t>Ngân hàng câu hỏi và sinh đề theo ma trận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800" b="1">
                <a:solidFill>
                  <a:srgbClr val="1D4ED8"/>
                </a:solidFill>
              </a:rPr>
              <a:t>Chuyên cần - điểm danh số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34440"/>
            <a:ext cx="51206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500" b="0">
                <a:solidFill>
                  <a:srgbClr val="1F2937"/>
                </a:solidFill>
              </a:rPr>
              <a:t>- 4 trạng thái/em: Có mặt, Vắng CP, Vắng KP, Đi muộn + ghi chú lý do ngay trên dòng</a:t>
            </a:r>
          </a:p>
          <a:p>
            <a:pPr/>
            <a:r>
              <a:rPr sz="1500" b="0">
                <a:solidFill>
                  <a:srgbClr val="1F2937"/>
                </a:solidFill>
              </a:rPr>
              <a:t>- Chọn ngày bất kỳ để xem lại / sửa điểm danh ngày cũ</a:t>
            </a:r>
          </a:p>
          <a:p>
            <a:pPr/>
            <a:r>
              <a:rPr sz="1500" b="0">
                <a:solidFill>
                  <a:srgbClr val="1F2937"/>
                </a:solidFill>
              </a:rPr>
              <a:t>- Sổ vắng-muộn và lịch sử theo khoảng ngày (from - to)</a:t>
            </a:r>
          </a:p>
          <a:p>
            <a:pPr/>
            <a:r>
              <a:rPr sz="1500" b="0">
                <a:solidFill>
                  <a:srgbClr val="1F2937"/>
                </a:solidFill>
              </a:rPr>
              <a:t>- Ma trận HS x ngày phát hiện vắng liên tục</a:t>
            </a:r>
          </a:p>
          <a:p>
            <a:pPr/>
            <a:r>
              <a:rPr sz="1500" b="0">
                <a:solidFill>
                  <a:srgbClr val="1F2937"/>
                </a:solidFill>
              </a:rPr>
              <a:t>- Thông báo phụ huynh tự động (email + in-app)</a:t>
            </a:r>
          </a:p>
          <a:p>
            <a:pPr/>
            <a:r>
              <a:rPr sz="1500" b="0">
                <a:solidFill>
                  <a:srgbClr val="1F2937"/>
                </a:solidFill>
              </a:rPr>
              <a:t>- Đồng bộ 2 chiều với sổ đầu bài tiết học</a:t>
            </a:r>
          </a:p>
        </p:txBody>
      </p:sp>
      <p:pic>
        <p:nvPicPr>
          <p:cNvPr id="5" name="Picture 4" descr="03-attendance-dail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99455" y="1234440"/>
            <a:ext cx="6035040" cy="3771900"/>
          </a:xfrm>
          <a:prstGeom prst="rect">
            <a:avLst/>
          </a:prstGeom>
          <a:ln>
            <a:solidFill>
              <a:srgbClr val="D1D5DB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5699455" y="5052060"/>
            <a:ext cx="6035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100" b="0">
                <a:solidFill>
                  <a:srgbClr val="6B7280"/>
                </a:solidFill>
              </a:rPr>
              <a:t>Điểm danh hàng ngày - 6 thẻ tổng + ghi chú vắng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800" b="1">
                <a:solidFill>
                  <a:srgbClr val="1D4ED8"/>
                </a:solidFill>
              </a:rPr>
              <a:t>Sổ điểm giáo viên - chuẩn TT22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34440"/>
            <a:ext cx="51206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500" b="0">
                <a:solidFill>
                  <a:srgbClr val="1F2937"/>
                </a:solidFill>
              </a:rPr>
              <a:t>- Cột điểm động: Miệng / 15 phút / 1 tiết (hệ số 1), Giữa kỳ (x2), Cuối kỳ (x3)</a:t>
            </a:r>
          </a:p>
          <a:p>
            <a:pPr/>
            <a:r>
              <a:rPr sz="1500" b="0">
                <a:solidFill>
                  <a:srgbClr val="1F2937"/>
                </a:solidFill>
              </a:rPr>
              <a:t>- Thêm/xóa cột tự do - mỗi GV tự cấu trúc sổ điểm của mình</a:t>
            </a:r>
          </a:p>
          <a:p>
            <a:pPr/>
            <a:r>
              <a:rPr sz="1500" b="0">
                <a:solidFill>
                  <a:srgbClr val="1F2937"/>
                </a:solidFill>
              </a:rPr>
              <a:t>- GV chỉ ghi điểm lớp + môn mình được phân công (RLS kiểm tra ở DB)</a:t>
            </a:r>
          </a:p>
          <a:p>
            <a:pPr/>
            <a:r>
              <a:rPr sz="1500" b="0">
                <a:solidFill>
                  <a:srgbClr val="1F2937"/>
                </a:solidFill>
              </a:rPr>
              <a:t>- Lưu điểm nguyên tử qua transaction - không mất dữ liệu khi lỗi giữa chừng</a:t>
            </a:r>
          </a:p>
          <a:p>
            <a:pPr/>
            <a:r>
              <a:rPr sz="1500" b="0">
                <a:solidFill>
                  <a:srgbClr val="1F2937"/>
                </a:solidFill>
              </a:rPr>
              <a:t>- ĐTBm tự tính đúng hệ số TT22, hiển thị HK1 / HK2 / cả năm</a:t>
            </a:r>
          </a:p>
          <a:p>
            <a:pPr/>
            <a:r>
              <a:rPr sz="1500" b="0">
                <a:solidFill>
                  <a:srgbClr val="1F2937"/>
                </a:solidFill>
              </a:rPr>
              <a:t>- Import/export Excel, tải template mẫu; môn nhận xét hiển thị Đạt / Chưa đạt</a:t>
            </a:r>
          </a:p>
        </p:txBody>
      </p:sp>
      <p:pic>
        <p:nvPicPr>
          <p:cNvPr id="5" name="Picture 4" descr="07-grad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99455" y="1234440"/>
            <a:ext cx="6035040" cy="3771900"/>
          </a:xfrm>
          <a:prstGeom prst="rect">
            <a:avLst/>
          </a:prstGeom>
          <a:ln>
            <a:solidFill>
              <a:srgbClr val="D1D5DB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5699455" y="5052060"/>
            <a:ext cx="6035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100" b="0">
                <a:solidFill>
                  <a:srgbClr val="6B7280"/>
                </a:solidFill>
              </a:rPr>
              <a:t>Sổ điểm cột động theo Thông tư 22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800" b="1">
                <a:solidFill>
                  <a:srgbClr val="1D4ED8"/>
                </a:solidFill>
              </a:rPr>
              <a:t>Thời khóa biểu &amp; Sổ đầu bài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34440"/>
            <a:ext cx="51206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500" b="0">
                <a:solidFill>
                  <a:srgbClr val="1F2937"/>
                </a:solidFill>
              </a:rPr>
              <a:t>- 2 chế độ: lịch cá nhân (mọi GV) + theo lớp (GVCN xem lớp CN, BGH toàn trường)</a:t>
            </a:r>
          </a:p>
          <a:p>
            <a:pPr/>
            <a:r>
              <a:rPr sz="1500" b="0">
                <a:solidFill>
                  <a:srgbClr val="1F2937"/>
                </a:solidFill>
              </a:rPr>
              <a:t>- Ô tiết cá nhân: lớp - môn - phòng; slot xung đột hiển thị đủ và cảnh báo</a:t>
            </a:r>
          </a:p>
          <a:p>
            <a:pPr/>
            <a:r>
              <a:rPr sz="1500" b="0">
                <a:solidFill>
                  <a:srgbClr val="1F2937"/>
                </a:solidFill>
              </a:rPr>
              <a:t>- Sổ đầu bài: chỉ GV được phân công tiết đó mới ghi - tiết người khác chỉ đọc</a:t>
            </a:r>
          </a:p>
          <a:p>
            <a:pPr/>
            <a:r>
              <a:rPr sz="1500" b="0">
                <a:solidFill>
                  <a:srgbClr val="1F2937"/>
                </a:solidFill>
              </a:rPr>
              <a:t>- Điểm danh theo tiết đồng bộ sang chuyên cần ngày</a:t>
            </a:r>
          </a:p>
          <a:p>
            <a:pPr/>
            <a:r>
              <a:rPr sz="1500" b="0">
                <a:solidFill>
                  <a:srgbClr val="1F2937"/>
                </a:solidFill>
              </a:rPr>
              <a:t>- Cộng/trừ điểm rèn luyện ngay trong sổ đầu bài</a:t>
            </a:r>
          </a:p>
          <a:p>
            <a:pPr/>
            <a:r>
              <a:rPr sz="1500" b="0">
                <a:solidFill>
                  <a:srgbClr val="1F2937"/>
                </a:solidFill>
              </a:rPr>
              <a:t>- BGH import TKB hàng loạt từ Excel</a:t>
            </a:r>
          </a:p>
        </p:txBody>
      </p:sp>
      <p:pic>
        <p:nvPicPr>
          <p:cNvPr id="5" name="Picture 4" descr="08-timetable-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99455" y="1234440"/>
            <a:ext cx="6035040" cy="3771900"/>
          </a:xfrm>
          <a:prstGeom prst="rect">
            <a:avLst/>
          </a:prstGeom>
          <a:ln>
            <a:solidFill>
              <a:srgbClr val="D1D5DB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5699455" y="5052060"/>
            <a:ext cx="6035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100" b="0">
                <a:solidFill>
                  <a:srgbClr val="6B7280"/>
                </a:solidFill>
              </a:rPr>
              <a:t>Lịch dạy cá nhân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800" b="1">
                <a:solidFill>
                  <a:srgbClr val="1D4ED8"/>
                </a:solidFill>
              </a:rPr>
              <a:t>Sơ đồ lớp &amp; hồ sơ học sinh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34440"/>
            <a:ext cx="51206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500" b="0">
                <a:solidFill>
                  <a:srgbClr val="1F2937"/>
                </a:solidFill>
              </a:rPr>
              <a:t>- Sơ đồ chỗ ngồi kéo-thả, thêm/bớt hàng cột linh hoạt</a:t>
            </a:r>
          </a:p>
          <a:p>
            <a:pPr/>
            <a:r>
              <a:rPr sz="1500" b="0">
                <a:solidFill>
                  <a:srgbClr val="1F2937"/>
                </a:solidFill>
              </a:rPr>
              <a:t>- Import danh sách HS Excel (mã HS quốc gia, dân tộc, hoàn cảnh)</a:t>
            </a:r>
          </a:p>
          <a:p>
            <a:pPr/>
            <a:r>
              <a:rPr sz="1500" b="0">
                <a:solidFill>
                  <a:srgbClr val="1F2937"/>
                </a:solidFill>
              </a:rPr>
              <a:t>- Chia tổ, ban cán sự, liên kết phụ huynh ngay trên danh sách</a:t>
            </a:r>
          </a:p>
          <a:p>
            <a:pPr/>
            <a:r>
              <a:rPr sz="1500" b="0">
                <a:solidFill>
                  <a:srgbClr val="1F2937"/>
                </a:solidFill>
              </a:rPr>
              <a:t>- Hồ sơ từng em: định danh, gia đình, sức khỏe - audit mọi thay đổi</a:t>
            </a:r>
          </a:p>
          <a:p>
            <a:pPr/>
            <a:r>
              <a:rPr sz="1500" b="0">
                <a:solidFill>
                  <a:srgbClr val="1F2937"/>
                </a:solidFill>
              </a:rPr>
              <a:t>- AI tổng hợp báo cáo hồ sơ lớp</a:t>
            </a:r>
          </a:p>
        </p:txBody>
      </p:sp>
      <p:pic>
        <p:nvPicPr>
          <p:cNvPr id="5" name="Picture 4" descr="11-seat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99455" y="1234440"/>
            <a:ext cx="6035040" cy="3771900"/>
          </a:xfrm>
          <a:prstGeom prst="rect">
            <a:avLst/>
          </a:prstGeom>
          <a:ln>
            <a:solidFill>
              <a:srgbClr val="D1D5DB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5699455" y="5052060"/>
            <a:ext cx="6035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100" b="0">
                <a:solidFill>
                  <a:srgbClr val="6B7280"/>
                </a:solidFill>
              </a:rPr>
              <a:t>Sơ đồ chỗ ngồi - resize hàng/cột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800" b="1">
                <a:solidFill>
                  <a:srgbClr val="1D4ED8"/>
                </a:solidFill>
              </a:rPr>
              <a:t>Rèn luyện - Tư vấn - An toàn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34440"/>
            <a:ext cx="51206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500" b="0">
                <a:solidFill>
                  <a:srgbClr val="1F2937"/>
                </a:solidFill>
              </a:rPr>
              <a:t>- Sổ rèn luyện: cộng/trừ điểm theo tiêu chí, nguồn từ sổ đầu bài / sự cố</a:t>
            </a:r>
          </a:p>
          <a:p>
            <a:pPr/>
            <a:r>
              <a:rPr sz="1500" b="0">
                <a:solidFill>
                  <a:srgbClr val="1F2937"/>
                </a:solidFill>
              </a:rPr>
              <a:t>- Tư vấn học sinh: hồ sơ phiên tư vấn, phân loại, theo dõi tiến triển</a:t>
            </a:r>
          </a:p>
          <a:p>
            <a:pPr/>
            <a:r>
              <a:rPr sz="1500" b="0">
                <a:solidFill>
                  <a:srgbClr val="1F2937"/>
                </a:solidFill>
              </a:rPr>
              <a:t>- Sự cố an toàn: 6 loại, 4 mức độ, báo cáo lên BGH, audit đầy đủ</a:t>
            </a:r>
          </a:p>
          <a:p>
            <a:pPr/>
            <a:r>
              <a:rPr sz="1500" b="0">
                <a:solidFill>
                  <a:srgbClr val="1F2937"/>
                </a:solidFill>
              </a:rPr>
              <a:t>- Thi đua tuần: chấm tiêu chí xếp hạng lớp</a:t>
            </a:r>
          </a:p>
          <a:p>
            <a:pPr/>
            <a:r>
              <a:rPr sz="1500" b="0">
                <a:solidFill>
                  <a:srgbClr val="1F2937"/>
                </a:solidFill>
              </a:rPr>
              <a:t>- AI đề xuất can thiệp theo hồ sơ</a:t>
            </a:r>
          </a:p>
        </p:txBody>
      </p:sp>
      <p:pic>
        <p:nvPicPr>
          <p:cNvPr id="5" name="Picture 4" descr="15-safe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99455" y="1234440"/>
            <a:ext cx="6035040" cy="3771900"/>
          </a:xfrm>
          <a:prstGeom prst="rect">
            <a:avLst/>
          </a:prstGeom>
          <a:ln>
            <a:solidFill>
              <a:srgbClr val="D1D5DB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5699455" y="5052060"/>
            <a:ext cx="6035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100" b="0">
                <a:solidFill>
                  <a:srgbClr val="6B7280"/>
                </a:solidFill>
              </a:rPr>
              <a:t>Sổ sự cố an toàn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800" b="1">
                <a:solidFill>
                  <a:srgbClr val="1D4ED8"/>
                </a:solidFill>
              </a:rPr>
              <a:t>BGH - điều hành trường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34440"/>
            <a:ext cx="51206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500" b="0">
                <a:solidFill>
                  <a:srgbClr val="1F2937"/>
                </a:solidFill>
              </a:rPr>
              <a:t>- Trung tâm phê duyệt: kế hoạch HĐ, giáo án, đánh giá - một nơi xử lý</a:t>
            </a:r>
          </a:p>
          <a:p>
            <a:pPr/>
            <a:r>
              <a:rPr sz="1500" b="0">
                <a:solidFill>
                  <a:srgbClr val="1F2937"/>
                </a:solidFill>
              </a:rPr>
              <a:t>- Radar cảnh báo sớm: lớp/HS rủi ro theo chuyên cần + điểm + sự cố</a:t>
            </a:r>
          </a:p>
          <a:p>
            <a:pPr/>
            <a:r>
              <a:rPr sz="1500" b="0">
                <a:solidFill>
                  <a:srgbClr val="1F2937"/>
                </a:solidFill>
              </a:rPr>
              <a:t>- Soạn + import TKB toàn trường, xem theo lớp</a:t>
            </a:r>
          </a:p>
          <a:p>
            <a:pPr/>
            <a:r>
              <a:rPr sz="1500" b="0">
                <a:solidFill>
                  <a:srgbClr val="1F2937"/>
                </a:solidFill>
              </a:rPr>
              <a:t>- Ký sổ chủ nhiệm: tạo đợt ký - duyệt/từ chối kèm lý do - ký hàng loạt; GVCN không tự ký</a:t>
            </a:r>
          </a:p>
          <a:p>
            <a:pPr/>
            <a:r>
              <a:rPr sz="1500" b="0">
                <a:solidFill>
                  <a:srgbClr val="1F2937"/>
                </a:solidFill>
              </a:rPr>
              <a:t>- Chỉ BGH phân công GVCN &amp; lớp năm học</a:t>
            </a:r>
          </a:p>
          <a:p>
            <a:pPr/>
            <a:r>
              <a:rPr sz="1500" b="0">
                <a:solidFill>
                  <a:srgbClr val="1F2937"/>
                </a:solidFill>
              </a:rPr>
              <a:t>- Trợ lý AI điều hành hỏi-đáp trên dữ liệu thật</a:t>
            </a:r>
          </a:p>
        </p:txBody>
      </p:sp>
      <p:pic>
        <p:nvPicPr>
          <p:cNvPr id="5" name="Picture 4" descr="23-bgh-rad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99455" y="1234440"/>
            <a:ext cx="6035040" cy="3771900"/>
          </a:xfrm>
          <a:prstGeom prst="rect">
            <a:avLst/>
          </a:prstGeom>
          <a:ln>
            <a:solidFill>
              <a:srgbClr val="D1D5DB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5699455" y="5052060"/>
            <a:ext cx="6035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100" b="0">
                <a:solidFill>
                  <a:srgbClr val="6B7280"/>
                </a:solidFill>
              </a:rPr>
              <a:t>Radar cảnh báo sớm toàn trường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800" b="1">
                <a:solidFill>
                  <a:srgbClr val="1D4ED8"/>
                </a:solidFill>
              </a:rPr>
              <a:t>Phụ huynh &amp; Học sinh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34440"/>
            <a:ext cx="51206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500" b="0">
                <a:solidFill>
                  <a:srgbClr val="1F2937"/>
                </a:solidFill>
              </a:rPr>
              <a:t>- Phụ huynh nhiều con: bộ chọn con trên đầu portal, dữ liệu tách theo từng em</a:t>
            </a:r>
          </a:p>
          <a:p>
            <a:pPr/>
            <a:r>
              <a:rPr sz="1500" b="0">
                <a:solidFill>
                  <a:srgbClr val="1F2937"/>
                </a:solidFill>
              </a:rPr>
              <a:t>- Nhắn tin 2 chiều với GVCN: soạn mới + trả lời, thấy cả tin đã gửi</a:t>
            </a:r>
          </a:p>
          <a:p>
            <a:pPr/>
            <a:r>
              <a:rPr sz="1500" b="0">
                <a:solidFill>
                  <a:srgbClr val="1F2937"/>
                </a:solidFill>
              </a:rPr>
              <a:t>- Đặt lịch hẹn trực tuyến - GVCN xác nhận</a:t>
            </a:r>
          </a:p>
          <a:p>
            <a:pPr/>
            <a:r>
              <a:rPr sz="1500" b="0">
                <a:solidFill>
                  <a:srgbClr val="1F2937"/>
                </a:solidFill>
              </a:rPr>
              <a:t>- Đăng ký / báo vắng hoạt động giáo dục cho con</a:t>
            </a:r>
          </a:p>
          <a:p>
            <a:pPr/>
            <a:r>
              <a:rPr sz="1500" b="0">
                <a:solidFill>
                  <a:srgbClr val="1F2937"/>
                </a:solidFill>
              </a:rPr>
              <a:t>- Học sinh: TKB, điểm số, hạnh kiểu, thông báo</a:t>
            </a:r>
          </a:p>
          <a:p>
            <a:pPr/>
            <a:r>
              <a:rPr sz="1500" b="0">
                <a:solidFill>
                  <a:srgbClr val="1F2937"/>
                </a:solidFill>
              </a:rPr>
              <a:t>- Mọi thao tác kiểm tra quyền sở hữu con ở server - không ghi được hồ sơ em khác</a:t>
            </a:r>
          </a:p>
        </p:txBody>
      </p:sp>
      <p:pic>
        <p:nvPicPr>
          <p:cNvPr id="5" name="Picture 4" descr="30-parent-port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99455" y="1234440"/>
            <a:ext cx="6035040" cy="3771900"/>
          </a:xfrm>
          <a:prstGeom prst="rect">
            <a:avLst/>
          </a:prstGeom>
          <a:ln>
            <a:solidFill>
              <a:srgbClr val="D1D5DB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5699455" y="5052060"/>
            <a:ext cx="6035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100" b="0">
                <a:solidFill>
                  <a:srgbClr val="6B7280"/>
                </a:solidFill>
              </a:rPr>
              <a:t>Portal phụ huynh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800" b="1">
                <a:solidFill>
                  <a:srgbClr val="1D4ED8"/>
                </a:solidFill>
              </a:rPr>
              <a:t>AI hỗ trợ - 3 tuyến dự phòng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34440"/>
            <a:ext cx="51206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500" b="0">
                <a:solidFill>
                  <a:srgbClr val="1F2937"/>
                </a:solidFill>
              </a:rPr>
              <a:t>- Tuyến 1: LLM cấu hình qua env - Gemini / OpenAI / Anthropic, đổi provider bằng AI_PROVIDER + AI_MODEL</a:t>
            </a:r>
          </a:p>
          <a:p>
            <a:pPr/>
            <a:r>
              <a:rPr sz="1500" b="0">
                <a:solidFill>
                  <a:srgbClr val="1F2937"/>
                </a:solidFill>
              </a:rPr>
              <a:t>- Tuyến 2: Devin async - hết quota LLM thì tạo session xử lý, callback trả kết quả</a:t>
            </a:r>
          </a:p>
          <a:p>
            <a:pPr/>
            <a:r>
              <a:rPr sz="1500" b="0">
                <a:solidFill>
                  <a:srgbClr val="1F2937"/>
                </a:solidFill>
              </a:rPr>
              <a:t>- Tuyến 3: rule-based fallback - luôn có câu trả lời hữu ích kể cả khi mọi backend chết</a:t>
            </a:r>
          </a:p>
          <a:p>
            <a:pPr/>
            <a:r>
              <a:rPr sz="1500" b="0">
                <a:solidFill>
                  <a:srgbClr val="1F2937"/>
                </a:solidFill>
              </a:rPr>
              <a:t>- Ứng dụng: báo cáo hồ sơ lớp, nhận xét giáo án, gợi ý cảnh báo, trợ lý điều hành, phân tích sổ đầu bài, biên bản sinh hoạt, báo cáo Sở</a:t>
            </a:r>
          </a:p>
        </p:txBody>
      </p:sp>
      <p:pic>
        <p:nvPicPr>
          <p:cNvPr id="5" name="Picture 4" descr="25-bgh-a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99455" y="1234440"/>
            <a:ext cx="6035040" cy="3771900"/>
          </a:xfrm>
          <a:prstGeom prst="rect">
            <a:avLst/>
          </a:prstGeom>
          <a:ln>
            <a:solidFill>
              <a:srgbClr val="D1D5DB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5699455" y="5052060"/>
            <a:ext cx="6035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100" b="0">
                <a:solidFill>
                  <a:srgbClr val="6B7280"/>
                </a:solidFill>
              </a:rPr>
              <a:t>Trợ lý AI điều hành của BGH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800" b="1">
                <a:solidFill>
                  <a:srgbClr val="1D4ED8"/>
                </a:solidFill>
              </a:rPr>
              <a:t>Báo cáo &amp; bảo mật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34440"/>
            <a:ext cx="51206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500" b="0">
                <a:solidFill>
                  <a:srgbClr val="1F2937"/>
                </a:solidFill>
              </a:rPr>
              <a:t>- Xuất sổ chủ nhiệm, báo cáo Sở/Phòng (CSV/Excel), sổ cá nhân GV</a:t>
            </a:r>
          </a:p>
          <a:p>
            <a:pPr/>
            <a:r>
              <a:rPr sz="1500" b="0">
                <a:solidFill>
                  <a:srgbClr val="1F2937"/>
                </a:solidFill>
              </a:rPr>
              <a:t>- RBAC 3 tầng: UI - route guard - Postgres RLS theo vai trò + quan hệ (lớp CN, tiết dạy, con mình)</a:t>
            </a:r>
          </a:p>
          <a:p>
            <a:pPr/>
            <a:r>
              <a:rPr sz="1500" b="0">
                <a:solidFill>
                  <a:srgbClr val="1F2937"/>
                </a:solidFill>
              </a:rPr>
              <a:t>- Audit log mọi hành động quan trọng, trang xem cho BGH</a:t>
            </a:r>
          </a:p>
          <a:p>
            <a:pPr/>
            <a:r>
              <a:rPr sz="1500" b="0">
                <a:solidFill>
                  <a:srgbClr val="1F2937"/>
                </a:solidFill>
              </a:rPr>
              <a:t>- Trang Thông báo chung cho mọi vai trò - chuông trên topbar, đánh dấu đã đọc, link nhảy tới màn hình liên quan</a:t>
            </a:r>
          </a:p>
          <a:p>
            <a:pPr/>
            <a:r>
              <a:rPr sz="1500" b="0">
                <a:solidFill>
                  <a:srgbClr val="1F2937"/>
                </a:solidFill>
              </a:rPr>
              <a:t>- Responsive mobile, sắp xếp tên theo quy tắc Việt Nam</a:t>
            </a:r>
          </a:p>
        </p:txBody>
      </p:sp>
      <p:pic>
        <p:nvPicPr>
          <p:cNvPr id="5" name="Picture 4" descr="20-expo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99455" y="1234440"/>
            <a:ext cx="6035040" cy="3771900"/>
          </a:xfrm>
          <a:prstGeom prst="rect">
            <a:avLst/>
          </a:prstGeom>
          <a:ln>
            <a:solidFill>
              <a:srgbClr val="D1D5DB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5699455" y="5052060"/>
            <a:ext cx="6035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100" b="0">
                <a:solidFill>
                  <a:srgbClr val="6B7280"/>
                </a:solidFill>
              </a:rPr>
              <a:t>Xuất sổ &amp; báo cáo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377440"/>
            <a:ext cx="10362895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3600" b="1">
                <a:solidFill>
                  <a:srgbClr val="FFFFFF"/>
                </a:solidFill>
              </a:rPr>
              <a:t>Bắt đầu sử dụng</a:t>
            </a:r>
          </a:p>
          <a:p>
            <a:pPr/>
            <a:r>
              <a:rPr sz="2000" b="0">
                <a:solidFill>
                  <a:srgbClr val="93C5FD"/>
                </a:solidFill>
              </a:rPr>
              <a:t>https://sochunhiem.vieschool.com</a:t>
            </a:r>
          </a:p>
          <a:p>
            <a:pPr/>
            <a:r>
              <a:rPr sz="1600" b="0">
                <a:solidFill>
                  <a:srgbClr val="D1D5DB"/>
                </a:solidFill>
              </a:rPr>
              <a:t>Tài khoản demo theo tên thật: hainv / duclm / hanhlth / anhptl / minhtv / trangpt / annv / baong @nd.scn; sovqt / daonvl / admin @demo.scn - mật khẩu: demo1234</a:t>
            </a:r>
          </a:p>
          <a:p>
            <a:pPr/>
            <a:r>
              <a:rPr sz="1400" b="0">
                <a:solidFill>
                  <a:srgbClr val="9CA3AF"/>
                </a:solidFill>
              </a:rPr>
              <a:t>Tài liệu đầy đủ: docs/user-guide/SO-CHU-NHIEM-SO-TAI-LIEU.docx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