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128016"/>
            <a:ext cx="3410712" cy="6729984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128016"/>
            <a:ext cx="2679192" cy="6729984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5" name="Text 3"/>
          <p:cNvSpPr/>
          <p:nvPr/>
        </p:nvSpPr>
        <p:spPr>
          <a:xfrm>
            <a:off x="9692640" y="27432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v3.0 - 26/10/2026 (đầy đủ hướng dẫn theo 10 vai trò + hiệu ứng chuyển cảnh)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câu hỏi đã dọn trùng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trường học toàn diện - 3 lớp module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học bạ số, báo cáo BGH/Sở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(DC-03), bộ câu hỏi (DC-04), phiếu học tập (DC-05), PPTX (DC-06)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 - bán theo gói (school_features)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Tuyển sinh đầu cấp + cổng public, Khoản thu, Bài tập trực tuyến (LMS), Thư viện, Biến động học sinh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mua gói nào - menu/route/RPC/RLS của gói đó mới hoạt động; BGH tự bật/tắt tại /school/modules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Chuyên cần - điểm danh số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trạng thái/em: Có mặt, Vắng CP, Vắng KP, Đi muộn + ghi chú lý do ngay trên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ngày bất kỳ để xem lại / sửa điểm danh ngày cũ; sổ vắng-muộn theo khoảng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báo phụ huynh tự động (in-app + email Resend từ no-reply@vieschool.com)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2 chiều với sổ đầu bài tiết học - một ghi nhận, nhiều nơi cập nhật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10" name="Image 0" descr="docs/user-guide/images/03-attendance-da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hàng ngày - tổng quan + ghi chú vắng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giáo viên - chuẩn TT22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điểm động: Miệng / 15 phút / 1 tiết (hệ số 1), Giữa kỳ (x2), Cuối kỳ (x3)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chỉ ghi điểm lớp + môn được phân công - bộ chọn môn tự lọc theo phân công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nguyên tử qua transaction; ĐTBm tự tính đúng hệ số, hiển thị HK1 / HK2 / cả năm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Import/export Excel, tải template mẫu; môn nhận xét hiển thị Đạt / Chưa đạt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000000">
                <a:alpha val="3000000000"/>
              </a:srgbClr>
            </a:outerShdw>
          </a:effectLst>
        </p:spPr>
      </p:sp>
      <p:pic>
        <p:nvPicPr>
          <p:cNvPr id="10" name="Image 0" descr="docs/user-guide/images/07-gr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cột động theo Thông tư 22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Thời khóa biểu &amp; Sổ đầu bài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chế độ: lịch cá nhân (mọi GV) + theo lớp (GVCN xem lớp CN, BGH toàn trường)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GV được phân công tiết đó mới ghi; điểm danh theo tiết đồng bộ chuyên cần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ngay trong sổ đầu bài; BGH import TKB hàng loạt từ Excel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000000">
                <a:alpha val="300000000000000"/>
              </a:srgbClr>
            </a:outerShdw>
          </a:effectLst>
        </p:spPr>
      </p:sp>
      <p:pic>
        <p:nvPicPr>
          <p:cNvPr id="10" name="Image 0" descr="docs/user-guide/images/08-timetable-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dạy cá nhân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- điều hành trường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duyệt: kế hoạch HĐ, giáo án, đánh giá - một nơi xử lý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sớm: lớp/HS rủi ro theo chuyên cần + điểm + sự cố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Ký sổ chủ nhiệm: tạo đợt ký - duyệt/từ chối kèm lý do - ký hàng loạt; GVCN không tự ký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 phân công GVCN &amp; lớp năm học; trợ lý AI điều hành hỏi-đáp trên dữ liệu thật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000000">
                <a:alpha val="30000000000000000000"/>
              </a:srgbClr>
            </a:outerShdw>
          </a:effectLst>
        </p:spPr>
      </p:sp>
      <p:pic>
        <p:nvPicPr>
          <p:cNvPr id="10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 - quyết định cuối năm TT22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điện tử thay sổ giấy: điểm HK1/HK2/cả năm từng môn, hạnh kiểm, NLPC, chuyên cần buổi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gợi ý xếp loại theo TT22/2021 - override bắt buộc căn cứ pháp lý (Điều 9.3 / sau đánh giá lại / HS khuyết tật / miễn môn)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3 bước: GVCN lưu nháp/trình (anhptl@nd.scn) → BGH duyệt/trả lại kèm lý do (hainv@nd.scn) → khóa qua đợt duyệt sổ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Stages: quyết định đầu năm → sau đánh giá lại / sau rèn luyện hè (theo kết quả lên lớp)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DOCX/PDF từng HS hoặc cả lớp - watermark 'BẢN NHÁP - CHƯA DUYỆT' khi chưa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GVCN chỉ lớp mình; PHT chỉ cơ sở mình; Sở GD/UBND xem chỉ đọc; HS xem học bạ bản thân trên portal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 - cổng hai chiều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chỉ thấy con mình (nhiều con: bộ chọn trên đầu portal, dữ liệu tách theo từng em)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2 chiều với GVCN; đặt lịch hẹn trực tuyến - GVCN xác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Digest email tuần tự động gửi PH; bounce/complaint được webhook Resend ghi nhận, không retry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sinh: TKB, điểm số, hạnh kiểm, thông báo - mọi ghi kiểm tra quyền sở hữu ở server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000000">
                <a:alpha val="3e+24"/>
              </a:srgbClr>
            </a:outerShdw>
          </a:effectLst>
        </p:spPr>
      </p:sp>
      <p:pic>
        <p:nvPicPr>
          <p:cNvPr id="10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 TVC360 - soạn học liệu &amp; ngân hàng câu hỏi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công cụ theo môn: DC-01..06 (chung), Toán (T-01/02), Văn (V-01/02), Anh (A-01..03)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gắn YCCĐ; đã dọn trùng - mỗi câu gộp đủ chuẩn, không bản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đúng cấp: Ngữ văn 6-12, Tiếng Việt 1-5, Tiếng Anh 3-12 theo CTGDPT 2018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sinh hội thoại + bài nghe kèm AUDIO THẬT (giọng neural) phát ngay trong trình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Toán vẽ SVG tham số (deterministic); LaTeX -&gt; Word Equation native khi xuất DOCX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000000">
                <a:alpha val="3e+29"/>
              </a:srgbClr>
            </a:outerShdw>
          </a:effectLst>
        </p:spPr>
      </p:sp>
      <p:pic>
        <p:nvPicPr>
          <p:cNvPr id="10" name="Image 0" descr="docs/user-guide/images/17-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và sinh đề theo ma trận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Tuyển sinh đầu cấp - quy trình chuẩn, có cổng public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luồng theo cấp: Khối 6 xét tuyển theo địa bàn; Khối 10 thi tuyển 3 môn (Toán/Văn/NN + chuyên) có SBD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Khối 6: submitted → approved/rejected → enrolled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Khối 10: submitted → exam_registered (cấp SBD) → chấm điểm → passed/failed theo điểm chuẩn → enrolled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Cổng công khai /apply: phụ huynh nộp hồ sơ + tra cứu trạng thái tại /apply/tra-cuu - KHÔNG cần tài khoản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Hồ sơ trúng tuyển → nhập học → gán mã định danh (national_id) → phân công giảng dạy sẵn có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lý tại /school/admissions (BGH/admin/so_gd); campaign có quota + benchmark theo năm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 thu - phân hệ tài chính của trường (/finance)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mục khoản thu: học phí, tiền ăn, bán trú, trang phục, bảo hiểm, SGK, hoạt động - bắt buộc hoặc tự nguyên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ký khoản thu theo lớp/khối → định mức/HS → miễn giảm (hộ nghèo, chính sách) → đợt thu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 tiền: tiền mặt/chuyển khoản + biên lai tự đánh số atomic theo trường; thông báo PH trong cùng RPC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nợ + báo cáo thu chi (/finance/reports); PH xem khoản thu của con trên portal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kế toán + BGH/admin ghi; Sở GD và PH chỉ đọc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tham chiếu phân hệ Khoản thu của MISA EMIS (phân tích đối thủ)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tập trực tuyến (LMS-lite) - HS làm bài ngay trên hệ thống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giao đề đã có (tvc_exams) cho lớp: chọn lớp + cửa sổ mở/đóng + thời lượng → tạo session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 thấy bài được giao trong portal, làm trong cửa sổ cho phép, nộp 1 lần (/portal/student/bai-thi)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Chấm tự động: trắc nghiệm, đúng/sai 4 ý, trả lời ngắn theo answer.correct; tự luận → essay_pending cho GV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xem kết quả theo session: điểm tự động, trạng thái nộp, danh sách HS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Tận dụng sẵn ngân hàng câu hỏi + ma trận sinh đề - vòng khép kín: soạn → duyệt → giao → chấm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Thư viện + Biến động học sinh - quy trình hành chính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Thư viện (/library): danh mục sách, ĐKCB đánh số atomic theo trường, mượn/trả cho HS và GV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Quá hạn tính từ due_at (không lưu trạng thái riêng); admin/BGH quản lý, HS xem sách đang mượn trên portal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 động HS (/movements): chuyển đến/chuyển đi/bảo lưu/nhập học lại - 4 loại yêu cầu có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Flow: GVCN/staff tạo yêu cầu → BGH phê duyệt → students.status cập nhật (transferred/reserved/active)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tên + lớp tại thời điểm yêu cầu (audit-sound); mọi write qua RPC - theo TT 32/2020 Điều lệ trường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flags - trường mua gói nào dùng gói đó (/school/modules)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school_features(school_id, module, enabled): BGH/admin bật-tắt module của trường mình; so_gd set default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Tắt module = mất nav + redirect route + RPC trả module_disabled + RLS chặn PostgREST - 4 lớp phòng thủ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Vừa là cơ chế bán hàng theo gói, vừa làm menu gọn cho trường không dùng module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Keys: studio, hoc_ba, attendance, conduct, safety, parents_portal, exams, emulation, substitutes, counseling, dept_report, tuyen_sinh, khoan_thu, lms_lite, thu_vien, bien_dong_hs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có Turnstile chống bot (ẩn - không cần thao tác thêm); giới hạn xuất file tối đa 20 lần/giờ/tài khoản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bạ số - quyết định cuối năm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Trình (lớp CN)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+ xuất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321808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 + xem học bạ chỉ đọc,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DC-01..06 / T-01..02 / V-01..02 / A-01..03 → điền môn/khối/bài → Sinh (AI hoặc fallback rule-based khi hết quota)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(Tiếng Anh): hội thoại + bài nghe kèm audio thật (giọng neural), phát ngay trong trang xem học liệu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dọn trùng toàn bank: gộp theo (câu hỏi, khối, môn, dạng), giữ bản đã duyệt, union đủ YCCĐ - 0 câu lặp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đúng cấp học: Ngữ văn chỉ khối 6-12 (Tiếng Việt 1-5), Tiếng Anh 3-12 - bộ chọn khối theo môn tự lọc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theo vai trò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Thao tác chi tiết từng chức năng - đúng thực tế trường Việt Nam. Ảnh chụp trực tiếp từ hệ thống.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HỒ SƠ LỚP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lớp &amp; danh sách học sinh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lớp: kéo-thả HS vào ô ghế; +/− Hàng, +/− Cột đổi lưới mà giữ nguyên vị trí đã xếp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sơ đồ tạo phiên bản mới - xem lại 'Lịch sử phiên bản sơ đồ'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sách HS &amp; Tổ: Thêm tổ → Chia đều tổ tự động; gán Ban cán sự bằng dropdown từng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Khu vực Liên kết phụ huynh: tạo tài khoản PH gắn đúng HS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000000">
                <a:alpha val="2.9999999999999997e+34"/>
              </a:srgbClr>
            </a:outerShdw>
          </a:effectLst>
        </p:spPr>
      </p:sp>
      <p:pic>
        <p:nvPicPr>
          <p:cNvPr id="10" name="Image 0" descr="docs/user-guide/images/11-sea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chỗ ngồi kéo-thả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RÈN LUYỆN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Nhận xét &amp; vi phạm / khen thưởng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HS → loại (Nhận xét / Khen thưởng / Vi phạm) → ngày, điểm +/−, nội dung → Ghi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Đánh giá &amp; xếp loại: xếp loại hạnh kiểm học kỳ cho cả lớp (HK1/HK2/CN tách biệt theo TT22)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cũng ghi được ngay trong sổ đầu bài tiết học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000000">
                <a:alpha val="3e+39"/>
              </a:srgbClr>
            </a:outerShdw>
          </a:effectLst>
        </p:spPr>
      </p:sp>
      <p:pic>
        <p:nvPicPr>
          <p:cNvPr id="10" name="Image 0" descr="docs/user-guide/images/13-con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rèn luyện - nhận xét và điểm +/−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PHỤ HUYNH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&amp; Ban đại diện CMHS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&amp; gửi thông báo: phạm vi cả lớp / PH từng em - PH nhận in-app + email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Hộp thư phản hồi: đọc/trả lời tin nhắn PH trong cùng hội thoại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hẹn trao đổi: xác nhận/từ chối lịch PH đề xuất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 đại diện CMHS: thêm thành viên + vai trò Trưởng/Phó/Ủy viên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000000">
                <a:alpha val="3e+44"/>
              </a:srgbClr>
            </a:outerShdw>
          </a:effectLst>
        </p:spPr>
      </p:sp>
      <p:pic>
        <p:nvPicPr>
          <p:cNvPr id="10" name="Image 0" descr="docs/user-guide/images/14-parents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thông báo gửi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AN TOÀN &amp; TƯ VẤN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Tư vấn học sinh &amp; sự cố an toàn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Tư vấn: Tiếp nhận ca → Đánh giá mức độ (AI gợi ý) → ca Cao chuyển tuyến chuyên gia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cố: ghi nhận loại + mức độ - AI viết lại mô tả → theo dõi xử lý → lưu trữ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 toàn trường BGH đánh dấu đã báo cáo - một luồng khép kín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000000">
                <a:alpha val="2.9999999999999997e+49"/>
              </a:srgbClr>
            </a:outerShdw>
          </a:effectLst>
        </p:spPr>
      </p:sp>
      <p:pic>
        <p:nvPicPr>
          <p:cNvPr id="10" name="Image 0" descr="docs/user-guide/images/15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nhận và xử lý sự cố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KỲ THI &amp; KẾ HOẠCH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Kỳ thi, thi đua, kế hoạch tháng, xuất sổ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Kỳ thi: tạo kỳ → thêm buổi thi (tay/Import Excel) → công bố; 'Mở ngân hàng câu hỏi' nhảy sang Studio rút câu vào đề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 đua: chấm điểm tiêu chí lớp mình; bảng xếp hạng toàn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tháng / sơ kết tuần: checklist + 'AI gợi ý công việc' đọc lịch năm học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sổ: CSV toàn bộ dữ liệu sổ chủ nhiệm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hạn chống lạm dụng: tối đa 20 lần xuất/giờ/tài khoản - vượt quá bị tạm khóa + ghi audit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000000">
                <a:alpha val="2.9999999999999996e+54"/>
              </a:srgbClr>
            </a:outerShdw>
          </a:effectLst>
        </p:spPr>
      </p:sp>
      <p:pic>
        <p:nvPicPr>
          <p:cNvPr id="10" name="Image 0" descr="docs/user-guide/images/19-pl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tháng với AI gợi ý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KÝ DUYỆT SỔ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Nộp sổ chủ nhiệm cho BGH ký duyệt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mở 'đợt ký' → sổ lớp mình chuyển 'Chờ GVCN nộp' → Nộp sổ (hoặc Nộp tất cả)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từ chối (bắt buộc lý do) → sổ về 'Bị từ chối' → sửa rồi Nộp lại - có thông báo 2 chiều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ký xong → 'Đã ký' - sổ khóa, chỉ BGH mở lại; mọi chuyển trạng thái ghi audit log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KHÁC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GVBM - Tổ trưởng - BGH - Kế toán - Sở - PH - HS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vai trò một màn hình riêng, quyền tính trên server - không lách qua UI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Ngày làm việc của GVBM (minhtv@nd.scn)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cá nhân: TKB mặc định hiện toàn bộ tiết mình dạy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điểm: chỉ nhập lớp/môn được phân công trong TKB - không ghi được lớp người khác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mở form ghi ở tiết mình dạy, tiết GV khác chỉ đọc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án: soạn → nộp tổ trưởng; bị trả về → sửa theo nhận xét → nộp lại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với GVCN gắn học sinh cụ thể; xem lịch coi thi/thi lớp mình dạy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000000">
                <a:alpha val="2.9999999999999996e+59"/>
              </a:srgbClr>
            </a:outerShdw>
          </a:effectLst>
        </p:spPr>
      </p:sp>
      <p:pic>
        <p:nvPicPr>
          <p:cNvPr id="10" name="Image 0" descr="docs/user-guide/images/09-period-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 - chỉ tiết mình dạy mới ghi được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TRƯỞNG CHUYÊN MÔN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giáo án &amp; sinh hoạt chuyên môn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giáo án: queue GV trong tổ nộp → 'AI gợi ý nhận xét' → Duyệt / Trả về kèm nhận xét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đánh giá năng lực: xét đánh giá tự chấm của GV trong tổ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Sinh hoạt chuyên môn: tạo buổi (chủ đề, ngày, ghi chú) → AI soạn biên bản từ ghi chú nhanh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hỏi: filter 'Môn của tổ tôi' - duyệt lớp 1 trước BGH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000000">
                <a:alpha val="2.9999999999999996e+64"/>
              </a:srgbClr>
            </a:outerShdw>
          </a:effectLst>
        </p:spPr>
      </p:sp>
      <p:pic>
        <p:nvPicPr>
          <p:cNvPr id="10" name="Image 0" descr="docs/user-guide/images/26-team-lesson-pl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Hàng chờ duyệt giáo án của tổ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 GIÁM HIỆU / PHT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hành trường - phạm vi và quyền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cấp trường + Trung tâm phê duyệt + Báo cáo ngày các lớp + Radar cảnh báo sớm (AI đề xuất can thiệp)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Trợ lý điều hành AI: chat hỏi-đáp trên số liệu thật của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toàn trường + Import Excel hàng loạt (ô 'Môn|GV|Phòng'); điều động dạy thay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BGH: ký duyệt sổ CN, phân công năm học, quản trị tài khoản - PHT KHÔNG có 3 quyền này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(duclm@nd.scn chỉ thấy Cơ sở 2)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000000">
                <a:alpha val="2.9999999999999995e+69"/>
              </a:srgbClr>
            </a:outerShdw>
          </a:effectLst>
        </p:spPr>
      </p:sp>
      <p:pic>
        <p:nvPicPr>
          <p:cNvPr id="10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TOÁN &amp; SỞ GD / UBND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Hành chính - tài chính - giám sát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toán: nhân sự, cơ sở vật chất, thiết bị, báo cáo tài chính NQ37 - KHÔNG thấy hồ sơ học tập HS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 thu /finance (nếu trường bật module): khoản thu, đợt thu, thu tiền + biên lai, công nợ, báo cáo thu chi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GD: dashboard các trường + AI bản tin; tạo trường mới; set module default + duyệt tuyển sinh liên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dữ liệu: kiểm tra toàn vẹn - lớp thiếu GVCN, HS chưa có tổ/PH, liên kết mồ côi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UBND xã: dashboard địa bàn chỉ đọc (theo mô hình chính quyền 2 cấp)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000000">
                <a:alpha val="2.9999999999999995e+74"/>
              </a:srgbClr>
            </a:outerShdw>
          </a:effectLst>
        </p:spPr>
      </p:sp>
      <p:pic>
        <p:nvPicPr>
          <p:cNvPr id="10" name="Image 0" descr="docs/user-guide/images/28-dep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Sở GD&amp;ĐT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Cổng thông tin hai chiều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nhiều con: bộ chọn con trên đầu portal - dữ liệu tách đúng từng em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 nhắn 2 chiều với GVCN; đặt lịch hẹn chờ xác nhận; đăng ký hoạt động / báo vắng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xem khoản thu của con (module khoan_thu); nộp hồ sơ tuyển sinh + tra cứu tại /apply - không cần tài khoản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HS: TKB, điểm HK1/HK2/CN, hạnh kiểm, học bạ (/portal/student/hoc-ba), bài tập trực tuyến (/portal/student/bai-thi), sách đang mượn - chỉ đọc, server kiểm quyền sở hữu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Mẹo: Ctrl+K tìm nhanh chức năng/HS; URL chứa ngày - bookmark được; mọi Import có 'Tải template'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000000">
                <a:alpha val="3e+79"/>
              </a:srgbClr>
            </a:outerShdw>
          </a:effectLst>
        </p:spPr>
      </p:sp>
      <p:pic>
        <p:nvPicPr>
          <p:cNvPr id="10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SỐ: anhptl@nd.scn trình quyết định → hainv@nd.scn trả lại/duyệt → khóa qua /register/lock-records; GVCN lớp khác (huynq@nd.scn) mở chi tiết/xuất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FLAGS: tắt lms_lite tại /school/modules → nav mất + /lms redirect + RPC trả module_disabled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TUYỂN SINH: nộp hồ sơ public /apply (không login) → tra cứu /apply/tra-cuu → BGH duyệt tại /school/admissions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LMS: GV giao đề + cửa sổ + thời lượng → HS làm /portal/student/bai-thi → nộp 1 lần → chấm tự động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 THU: đợt thu → thu tiền phát biên lai → công nợ giảm; PH thấy khoản thu trên portal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 ĐỘNG: yêu cầu chuyển/bảo lưu → BGH duyệt → students.status đổi + snapshot lưu lớp cũ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15/10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SO-CHU-NHIEM-SO-TAI-LIEU.docx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 Word gộp - in/phát hành nội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5720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 này là bản duy nhất gộp hướng dẫn + giới thiệu (thay thế SO-CHU-NHIEM-SO-GIOI-THIEU.pptx cũ)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scripts/gen-user-guide-pptx.mjs; workbook mẫu: 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2026-10-28T02:06:15Z</dcterms:created>
  <dcterms:modified xsi:type="dcterms:W3CDTF">2026-10-28T02:06:15Z</dcterms:modified>
</cp:coreProperties>
</file>