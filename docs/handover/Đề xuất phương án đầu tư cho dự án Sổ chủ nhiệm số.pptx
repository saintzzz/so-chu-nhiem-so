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68" y="-8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072309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9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828800"/>
            <a:ext cx="106984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FFFFFF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ĐỀ XUẤT KINH PHÍ DỰ ÁN - ~2.79 TỶ ĐỒNG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731520" y="27889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5EEAD4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VieSchool - Sổ Chủ Nhiệm Số + TVC360 - kêu gọi đồng đầu tư / share-risk</a:t>
            </a:r>
            <a:endParaRPr lang="en-US" sz="1500" dirty="0"/>
          </a:p>
        </p:txBody>
      </p:sp>
      <p:sp>
        <p:nvSpPr>
          <p:cNvPr id="4" name="Text 2"/>
          <p:cNvSpPr/>
          <p:nvPr/>
        </p:nvSpPr>
        <p:spPr>
          <a:xfrm>
            <a:off x="731520" y="338328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94A3B8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Tính bottom-up từ resource plan (rate × allocation × tháng): ~794M đã đầu tư · ~829M phát triển đến T03/2027 · ~1 166M maintain đến hết 2028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388620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64748B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Sản phẩm đã live production tại sochunhiem.vieschool.com - không phải đề xuất trên giấy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PHÁP TÍNH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Mọi con số = rate × allocation × tháng - kiểm chứng được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5120640" cy="2057400"/>
        </p:xfrm>
        <a:graphic>
          <a:graphicData uri="http://schemas.openxmlformats.org/drawingml/2006/table">
            <a:tbl>
              <a:tblPr/>
              <a:tblGrid>
                <a:gridCol w="170688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068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Vai trò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 FTE (VND/tháng)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Fullstack lead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Phiên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Backend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QA / Tester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(PM)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PO / BA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30 000 000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5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35040" y="1737360"/>
          <a:ext cx="5669280" cy="2057400"/>
        </p:xfrm>
        <a:graphic>
          <a:graphicData uri="http://schemas.openxmlformats.org/drawingml/2006/table">
            <a:tbl>
              <a:tblPr/>
              <a:tblGrid>
                <a:gridCol w="18897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7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Phần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Giai đoạn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 tiền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 - Đã đầu tư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T03/26 - 15/10/26 (7.5th)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~793.7M (28%)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 - Phát triển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16/10/26 - 31/03/27 (5.5th)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~829.45M (30%)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 - Maintain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T04/27 - T12/28 (21th)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~1 165.5M (42%)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~2 788.65M ≈ 2.79 tỷ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" name="Text 3"/>
          <p:cNvSpPr/>
          <p:nvPr/>
        </p:nvSpPr>
        <p:spPr>
          <a:xfrm>
            <a:off x="640080" y="429768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Team ramp theo thực tế: đầu dự án 2 người, QA vào từ T08, full team từ T09 - không tính 3.3 FTE suốt để inflate phần A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Maintain sau launch chỉ ~1.0 FTE (oncall + regression + triage) - rẻ hơn ~2.8 lần so với build phase</a:t>
            </a:r>
            <a:endParaRPr lang="en-US" sz="12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A là bằng chứng cam kết: đã bỏ tiền thật đưa sản phẩm lên production trước khi kêu gọi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A - ĐÃ ĐẦU TƯ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T03/2026 - 15/10/2026 (~7.5 tháng) - tổng ~793.7M VND, sunk cost không hoàn lại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0552587"/>
              </p:ext>
            </p:extLst>
          </p:nvPr>
        </p:nvGraphicFramePr>
        <p:xfrm>
          <a:off x="640080" y="1737360"/>
          <a:ext cx="10972800" cy="3118104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T03-06 (4th) nền tảng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T07-08 (2th) nghiệp vụ lõi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T09 (1th) TVC360+SCN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T01-15/10 (0.5th) demo gate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 - FS (55M)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412 500 000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Phiên - BE (40M)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268 000 000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 - QA (25M)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62 500 000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PM/BA (30M)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-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31 500 000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</a:t>
                      </a: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chị</a:t>
                      </a: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phí</a:t>
                      </a: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</a:t>
                      </a: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050" b="1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sự</a:t>
                      </a:r>
                      <a:endParaRPr lang="en-US" sz="105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348M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233M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129M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64.5M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774 500 000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 + AI dev + domain</a:t>
                      </a:r>
                      <a:endParaRPr lang="en-US" sz="1050" b="1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~19 200 000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PHẦN A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~793 700 000</a:t>
                      </a:r>
                      <a:endParaRPr lang="en-US" sz="10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A - GIÁ TRỊ ĐÃ TẠO RA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~794M sunk - sản phẩm live, không phải ý tưởng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49 CR lớn đã merge (CR-001 → CR-049) - gồm chiến dịch hardening ~30 vòng external review độc lập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Multi-tenant 3 trường, phân quyền 11 role enforce ở DB (RLS) - không chỉ UI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Studio/TVC360: sinh KHBĐ theo CV 5512, ngân hàng 21k+ câu hỏi phủ 81/81 YCCĐ, export DOCX/PPTX, TTS audio thật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QA production: 49/49 coverage + 57/57 security-edge + 18/18 onboarding + 23/23 lifecycle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AI production-grade: multi-key/multi-model fallback, hedged race (doc dài 33.7s → ~5s), PII redaction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Self-service demo tại sochunhiem.vieschool.com - trường tự đăng nhập dùng thử</a:t>
            </a:r>
            <a:endParaRPr lang="en-US" sz="135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Tham </a:t>
            </a:r>
            <a:r>
              <a:rPr lang="en-US" sz="1350" dirty="0" err="1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chiếu</a:t>
            </a: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thị</a:t>
            </a: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350" dirty="0" err="1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trường</a:t>
            </a:r>
            <a:r>
              <a:rPr lang="en-US" sz="13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: thuê dev shop cùng scope ~7.5 tháng thường 1.3-1.6 tỷ - định giá ở payroll là conservative</a:t>
            </a:r>
            <a:endParaRPr lang="en-US" sz="13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B - PHÁT TRIỂN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16/10/2026 - 31/03/2027 (5.5 tháng) - giữ nguyên team 3.3 FTE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416966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 / Khoản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Allocation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5.5 tháng (VND)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 - Fullstack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302 500 000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Phiên - Backend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40M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220 000 000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 - QA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137 500 000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BA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49 500 000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 (3.3 FTE)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129M/th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709 500 000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Supabase Pro + compute Small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~2.5M/th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13 750 000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Vercel Pro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~0.6M/th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3 300 000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API (gen bank, KHBĐ)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22 000 000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Domain + Resend + monitoring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Contingency ~10% (phát sinh pilot)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~75 400 000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4747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PHẦN B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~829 450 000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  <p:sp>
        <p:nvSpPr>
          <p:cNvPr id="5" name="Text 3"/>
          <p:cNvSpPr/>
          <p:nvPr/>
        </p:nvSpPr>
        <p:spPr>
          <a:xfrm>
            <a:off x="640080" y="594360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Supabase Pro + Small bắt buộc từ khi có tenant trả phí - throttling 09/10 chứng minh free tier không đủ cho trường thật.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B - DELIVERABLES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Giải ngân gắn milestone kiểm chứng được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32004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Tháng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Deliverable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Acceptance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T10-T11/2026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Pilot 3-5 trường thật: data migration + đào tạo GV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Trường pilot đăng nhập + nhập liệu thật; SLA hotfix trong ngày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T12/2026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Ngân hàng THCS theo YCCĐ đối tác + duyệt 2 lớp (tổ → BGH)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Coverage YCCĐ đạt target; workflow approve hoạt động E2E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T01/2027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Báo cáo DPIA/bảo mật + tài liệu vận hành + runbook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External review pass; handover docs hoàn chỉnh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08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T02-T03/2027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Hoàn thiện theo feedback pilot + chuẩn bị commercial launch + billing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Sản phẩm sẵn sàng bán; billing path đã test</a:t>
                      </a:r>
                      <a:endParaRPr lang="en-US" sz="115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75945" y="493511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5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Không ứng trọn một lần - giải ngân theo tháng/milestone có deliverable kiểm chứng được</a:t>
            </a:r>
            <a:endParaRPr lang="en-US" sz="12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PHẦN C - MAINTAIN / SỬA LỖI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T04/2027 - T12/2028 (21 tháng) - vận hành lean ~1.0 FTE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" y="1737360"/>
          <a:ext cx="10972800" cy="3133344"/>
        </p:xfrm>
        <a:graphic>
          <a:graphicData uri="http://schemas.openxmlformats.org/drawingml/2006/table">
            <a:tbl>
              <a:tblPr/>
              <a:tblGrid>
                <a:gridCol w="274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Người / Khoản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Allocation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21 tháng (VND)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Bình - Fullstack (oncall/hotfix/CR nhỏ)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70%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55M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808 500 000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Lan - QA (regression mỗi release)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25M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105 000 000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PM / BA (triage + báo cáo)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10%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30M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63 000 000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Nhân sự (1.0 FTE)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46.5M/th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976 500 000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Infra (Supabase Pro+Small, Vercel, domain, email)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~6M/th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126 000 000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AI API vận hành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~3M/th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63 000 000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8404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PHẦN 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~55.5M/th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~1 165 500 000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FB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07492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Cam kết: hotfix critical trong ngày làm việc - regression suite chạy lại mỗi deploy - security review định kỳ (kế thừa external review loop) - monitoring uptime + báo cáo cho đối tác</a:t>
            </a:r>
            <a:endParaRPr lang="en-US" sz="1200" dirty="0"/>
          </a:p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200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Feature mới lớn tính CR riêng - phần C chỉ cover sửa lỗi, tinh chỉnh, bảo trì, vận hành hạ tầng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PHƯƠNG ÁN KÊU GỌI &amp; CHIA SẺ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Chia doanh thu T03/27-T03/29 (2 năm đầu) - sau đó chuyển cổ phần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9869500"/>
              </p:ext>
            </p:extLst>
          </p:nvPr>
        </p:nvGraphicFramePr>
        <p:xfrm>
          <a:off x="640080" y="1737360"/>
          <a:ext cx="10972800" cy="2514600"/>
        </p:xfrm>
        <a:graphic>
          <a:graphicData uri="http://schemas.openxmlformats.org/drawingml/2006/table">
            <a:tbl>
              <a:tblPr/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Tiêu chí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PA-1: fund phần B (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ưu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b="1" dirty="0" err="1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tiên</a:t>
                      </a: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PA-2: fund B + 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Nhà đầu tư gánh (50%)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~414 725 000 (50% phần B)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~997 475 000 (50% của B+C)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Dev gánh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 B + A sunk ~794M + tự gánh C ~1 166M + vận hành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50% (B+C) + A sunk ~794M + vận hành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Rev-share T03/27-T03/29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Nhà đầu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tư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~30% / dev ~70% (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trên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mà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team DEV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được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Nhà đầu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tư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~40% / dev ~60% (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trên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mà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team DEV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được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292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Cổ phần sau T03/2029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~15% (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trên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mà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team DEV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được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~20% (cam kết lớn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hơn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 (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trên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mà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team DEV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được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5897880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Share-risk 50-50 về chi phí ở cả 2 phương án; dev giữ majority rev-share vì gánh sunk A + IP + toàn bộ công sức vận hành.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KHOẢN &amp; TÓM TẮT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502920" y="502920"/>
            <a:ext cx="111556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500" b="1" dirty="0">
                <a:solidFill>
                  <a:srgbClr val="0F172A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Con số chốt mang đi negotiate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02920" y="1536192"/>
            <a:ext cx="1115568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  <p:txBody>
          <a:bodyPr/>
          <a:lstStyle/>
          <a:p>
            <a:endParaRPr lang="vi-VN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42853621"/>
              </p:ext>
            </p:extLst>
          </p:nvPr>
        </p:nvGraphicFramePr>
        <p:xfrm>
          <a:off x="640080" y="1737360"/>
          <a:ext cx="10972800" cy="3084576"/>
        </p:xfrm>
        <a:graphic>
          <a:graphicData uri="http://schemas.openxmlformats.org/drawingml/2006/table">
            <a:tbl>
              <a:tblPr/>
              <a:tblGrid>
                <a:gridCol w="5486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8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Mục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Giá trị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Tổng kinh phí dự án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~2 788 650 000 VND (~2.79 tỷ)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Đã đầu tư (sunk - sweat equity)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~793.7M (28%) - T03/26 → 15/10/26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PA-1 - kêu gọi trước tiên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NĐT gánh 50% B ≈ ~414.7M → NĐT ~30% rev-share 2 năm + ~15% cổ phần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sau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2029 (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trên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mà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team DEV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được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PA-2 - mở rộng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NĐT gánh 50% (B+C) ≈ ~997.5M → NĐT ~40% rev-share 2 năm + ~20% cổ phần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sau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2029 (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trên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số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mà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team DEV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nhận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 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được</a:t>
                      </a: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)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Burn rate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Build: 129M NS + ~8.1M infra /th · Maintain: 46.5M NS + ~9M infra /</a:t>
                      </a:r>
                      <a:r>
                        <a:rPr lang="en-US" sz="1100" dirty="0" err="1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th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891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Trạng thái sản phẩm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Segoe UI" pitchFamily="34" charset="0"/>
                          <a:ea typeface="Segoe UI" pitchFamily="34" charset="-122"/>
                          <a:cs typeface="Segoe UI" pitchFamily="34" charset="-120"/>
                        </a:rPr>
                        <a:t>Live production - 3 trường demo - QA xanh - ~30 vòng external review</a:t>
                      </a:r>
                      <a:endParaRPr lang="en-US" sz="1100" dirty="0">
                        <a:latin typeface="Segoe UI" charset="0"/>
                        <a:ea typeface="Segoe UI" charset="0"/>
                        <a:cs typeface="Segoe UI" charset="0"/>
                      </a:endParaRPr>
                    </a:p>
                  </a:txBody>
                  <a:tcPr marL="54864" marR="54864" marT="54864" marB="54864" anchor="ctr">
                    <a:lnL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8FAF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40080" y="4937760"/>
            <a:ext cx="10972800" cy="4572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77800" indent="-177800">
              <a:spcAft>
                <a:spcPts val="800"/>
              </a:spcAft>
              <a:buSzPct val="100000"/>
              <a:buChar char="•"/>
            </a:pP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Điều khoản bắt buộc: giải ngân </a:t>
            </a:r>
            <a:r>
              <a:rPr lang="en-US" sz="115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theo</a:t>
            </a: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từng</a:t>
            </a: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</a:t>
            </a:r>
            <a:r>
              <a:rPr lang="en-US" sz="1150" dirty="0" err="1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tháng</a:t>
            </a:r>
            <a:r>
              <a:rPr lang="en-US" sz="1150" dirty="0">
                <a:solidFill>
                  <a:srgbClr val="475569"/>
                </a:solidFill>
                <a:latin typeface="Segoe UI" pitchFamily="34" charset="0"/>
                <a:ea typeface="Segoe UI" pitchFamily="34" charset="-122"/>
                <a:cs typeface="Segoe UI" pitchFamily="34" charset="-120"/>
              </a:rPr>
              <a:t> - phần A không hoàn/khấu trừ - clock doanh thu đếm từ khách paid đầu tiên (trễ thì dịch cửa sổ) - cổ phần vesting từ ngày ký - báo cáo burn hàng tháng + audit rights - IP thuộc bên phát triển - scale &gt;5 trường thì review hạ tầng qua CR riêng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1518</Words>
  <Application>Microsoft Office PowerPoint</Application>
  <PresentationFormat>Custom</PresentationFormat>
  <Paragraphs>225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Segoe UI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Linh LD</cp:lastModifiedBy>
  <cp:revision>3</cp:revision>
  <dcterms:created xsi:type="dcterms:W3CDTF">2026-10-16T04:15:41Z</dcterms:created>
  <dcterms:modified xsi:type="dcterms:W3CDTF">2026-10-16T04:29:51Z</dcterms:modified>
</cp:coreProperties>
</file>