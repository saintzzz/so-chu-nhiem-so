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</a:rPr>
              <a:t>SỔ CHỦ NHIỆM SỐ</a:t>
            </a:r>
          </a:p>
          <a:p>
            <a:pPr/>
            <a:r>
              <a:rPr sz="2000" b="0">
                <a:solidFill>
                  <a:srgbClr val="DBEAFE"/>
                </a:solidFill>
              </a:rPr>
              <a:t>Nền tảng số hóa công tác chủ nhiệm &amp; quản lý trường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BFDBFE"/>
                </a:solidFill>
              </a:rPr>
              <a:t>https://sochunhiem.vieschool.com - Demo: anhptl@nd.scn..., mật khẩu demo1234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Tổng quan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Số hóa toàn bộ sổ chủ nhiệm giấy: điểm danh, sổ đầu bài, sổ điểm, rèn luyện, tư vấn, liên lạc phụ huynh, hoạt động giáo dục, an toàn, thi đua, báo cáo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TVC360 Studio: soạn KHBD (CV 5512), ma trận đề, đề kiểm tra, ngân hàng câu hỏi chung của trường - xuất DOCX/PDF/PPTX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Vai trò kiêm nhiệm: GVCN kiêm dạy + tổ trưởng, quyền gộp nhất quán UI - action - RLS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Một dữ liệu nghiệp vụ - đồng bộ nhiều màn hình (vắng tiết học tự cập nhật điểm danh ngày)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Hỗ trợ Tiểu học / THCS / THPT, nhiều cơ sở (phân hiệu); multi-tenant RLS theo trường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AI 3 tuyến: LLM cấu hình được - engine async - rule-based fallback; sanitizer kiểm chứng nội dung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Chuẩn TT22/2021: điểm thành phần hệ số 1-2-3, ĐTBm HK1/HK2/cả năm</a:t>
            </a:r>
          </a:p>
        </p:txBody>
      </p:sp>
      <p:pic>
        <p:nvPicPr>
          <p:cNvPr id="5" name="Picture 4" descr="02-gvc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Dashboard giáo viên chủ nhiệm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10 vai trò - phạm vi dữ liệu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950976">
                <a:tc>
                  <a:txBody>
                    <a:bodyPr/>
                    <a:lstStyle/>
                    <a:p>
                      <a:r>
                        <a:rPr sz="1400"/>
                        <a:t>GVCN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Lớp chủ nhiệm + lịch dạy cá nhân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GVBM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Điểm/sổ đầu bài đúng lớp-môn được phân công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/>
                        <a:t>Tổ trưởng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Duyệt giáo án, đánh giá năng lực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Toàn trường: ký sổ, phân công, duyệt, radar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/>
                        <a:t>PHT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Vận hành trường - không ký sổ/phân công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Kế toán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Nhân sự, CSVC, NQ37 - không xem hồ sơ HS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/>
                        <a:t>Sở GD&amp;ĐT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Tổng hợp nhiều trường, quản trị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UBND cấp xã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Dashboard địa bàn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/>
                        <a:t>Phụ huynh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Con mình (nhiều con): tin nhắn, lịch hẹn, đăng ký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Học sinh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TKB, điểm, hạnh kiểm của mình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Vai trò kiêm nhiệm - đúng thực tế trường Việt 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- 1 vai trò chính + nhiều vai trò kiêm nhiệm: GVCN kiêm GVBM + tổ trưởng, PHT/Hiệu trưởng kiêm dạy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Quyền = hợp mọi vai trò, tính nhất quán 3 tầng: menu gộp + topbar đủ nhãn, server action, 158 RLS policies (my_roles)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BGH gán kiêm nhiệm tại /school/users - user tự sửa bị trigger DB chặn (chống leo quyền)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Grant xung đột giữa vai trò kiêm: deny thắng; chỉ vai trò nhân sự được kiêm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Menu chỉ hiện chức năng được cấp - audit tự động bằng check-nav-access (158 links)</a:t>
            </a:r>
          </a:p>
        </p:txBody>
      </p:sp>
      <p:pic>
        <p:nvPicPr>
          <p:cNvPr id="5" name="Picture 4" descr="26-team-lesson-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GVCN kiêm tổ trưởng vào được queue duyệt giáo 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Studio - công cụ số giáo viên (TVC360)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- 6 công cụ DC-01..06: KHBĐ khung CV 5512, ma trận đề, đề từ ngân hàng, bộ câu hỏi, phiếu học tập, bài trình chiếu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Ngân hàng câu hỏi chung của trường gắn YCCĐ: import tay/Excel/ảnh-PDF, duyệt 2 lớp (tổ → BGH)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Hình Toán vẽ SVG tham số (deterministic), LaTeX $...$ → Word Equation native khi xuất DOCX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AI sinh qua schema + YCCĐ gate + sanitizer; hết quota → fallback engine / rule-based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Xuất DOCX/PDF/PPTX; đề kèm đáp án - hướng dẫn chấm - biên bản phản biện</a:t>
            </a:r>
          </a:p>
        </p:txBody>
      </p:sp>
      <p:pic>
        <p:nvPicPr>
          <p:cNvPr id="5" name="Picture 4" descr="17-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Ngân hàng câu hỏi và sinh đề theo ma trận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Chuyên cần - điểm danh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- 4 trạng thái/em: Có mặt, Vắng CP, Vắng KP, Đi muộn + ghi chú lý do ngay trên dòng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Chọn ngày bất kỳ để xem lại / sửa điểm danh ngày cũ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Sổ vắng-muộn và lịch sử theo khoảng ngày (from - to)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Ma trận HS x ngày phát hiện vắng liên tục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Thông báo phụ huynh tự động (email + in-app)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Đồng bộ 2 chiều với sổ đầu bài tiết học</a:t>
            </a:r>
          </a:p>
        </p:txBody>
      </p:sp>
      <p:pic>
        <p:nvPicPr>
          <p:cNvPr id="5" name="Picture 4" descr="03-attendance-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Điểm danh hàng ngày - 6 thẻ tổng + ghi chú vắng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Sổ điểm giáo viên - chuẩn TT22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Cột điểm động: Miệng / 15 phút / 1 tiết (hệ số 1), Giữa kỳ (x2), Cuối kỳ (x3)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Thêm/xóa cột tự do - mỗi GV tự cấu trúc sổ điểm của mình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GV chỉ ghi điểm lớp + môn mình được phân công (RLS kiểm tra ở DB)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Lưu điểm nguyên tử qua transaction - không mất dữ liệu khi lỗi giữa chừng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ĐTBm tự tính đúng hệ số TT22, hiển thị HK1 / HK2 / cả năm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Import/export Excel, tải template mẫu; môn nhận xét hiển thị Đạt / Chưa đạt</a:t>
            </a:r>
          </a:p>
        </p:txBody>
      </p:sp>
      <p:pic>
        <p:nvPicPr>
          <p:cNvPr id="5" name="Picture 4" descr="07-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Sổ điểm cột động theo Thông tư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Thời khóa biểu &amp; Sổ đầu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- 2 chế độ: lịch cá nhân (mọi GV) + theo lớp (GVCN xem lớp CN, BGH toàn trường)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Ô tiết cá nhân: lớp - môn - phòng; slot xung đột hiển thị đủ và cảnh báo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Sổ đầu bài: chỉ GV được phân công tiết đó mới ghi - tiết người khác chỉ đọc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Điểm danh theo tiết đồng bộ sang chuyên cần ngày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Cộng/trừ điểm rèn luyện ngay trong sổ đầu bài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BGH import TKB hàng loạt từ Excel</a:t>
            </a:r>
          </a:p>
        </p:txBody>
      </p:sp>
      <p:pic>
        <p:nvPicPr>
          <p:cNvPr id="5" name="Picture 4" descr="08-timetable-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Lịch dạy cá nhân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Sơ đồ lớp &amp; hồ sơ học sinh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Sơ đồ chỗ ngồi kéo-thả, thêm/bớt hàng cột linh hoạt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Import danh sách HS Excel (mã HS quốc gia, dân tộc, hoàn cảnh)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Chia tổ, ban cán sự, liên kết phụ huynh ngay trên danh sách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Hồ sơ từng em: định danh, gia đình, sức khỏe - audit mọi thay đổi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AI tổng hợp báo cáo hồ sơ lớp</a:t>
            </a:r>
          </a:p>
        </p:txBody>
      </p:sp>
      <p:pic>
        <p:nvPicPr>
          <p:cNvPr id="5" name="Picture 4" descr="11-se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Sơ đồ chỗ ngồi - resize hàng/cột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Rèn luyện - Tư vấn - An toàn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Sổ rèn luyện: cộng/trừ điểm theo tiêu chí, nguồn từ sổ đầu bài / sự cố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Tư vấn học sinh: hồ sơ phiên tư vấn, phân loại, theo dõi tiến triển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Sự cố an toàn: 6 loại, 4 mức độ, báo cáo lên BGH, audit đầy đủ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Thi đua tuần: chấm tiêu chí xếp hạng lớp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AI đề xuất can thiệp theo hồ sơ</a:t>
            </a:r>
          </a:p>
        </p:txBody>
      </p:sp>
      <p:pic>
        <p:nvPicPr>
          <p:cNvPr id="5" name="Picture 4" descr="15-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Sổ sự cố an toàn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BGH - điều hành trường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Trung tâm phê duyệt: kế hoạch HĐ, giáo án, đánh giá - một nơi xử lý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Radar cảnh báo sớm: lớp/HS rủi ro theo chuyên cần + điểm + sự cố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Soạn + import TKB toàn trường, xem theo lớp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Ký sổ chủ nhiệm: tạo đợt ký - duyệt/từ chối kèm lý do - ký hàng loạt; GVCN không tự ký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Chỉ BGH phân công GVCN &amp; lớp năm học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Trợ lý AI điều hành hỏi-đáp trên dữ liệu thật</a:t>
            </a:r>
          </a:p>
        </p:txBody>
      </p:sp>
      <p:pic>
        <p:nvPicPr>
          <p:cNvPr id="5" name="Picture 4" descr="23-bgh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Radar cảnh báo sớm toàn trường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Phụ huynh &amp; Học sinh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Phụ huynh nhiều con: bộ chọn con trên đầu portal, dữ liệu tách theo từng em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Nhắn tin 2 chiều với GVCN: soạn mới + trả lời, thấy cả tin đã gửi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Đặt lịch hẹn trực tuyến - GVCN xác nhận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Đăng ký / báo vắng hoạt động giáo dục cho con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Học sinh: TKB, điểm số, hạnh kiểu, thông báo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Mọi thao tác kiểm tra quyền sở hữu con ở server - không ghi được hồ sơ em khác</a:t>
            </a:r>
          </a:p>
        </p:txBody>
      </p:sp>
      <p:pic>
        <p:nvPicPr>
          <p:cNvPr id="5" name="Picture 4" descr="30-parent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Portal phụ huynh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AI hỗ trợ - 3 tuyến dự phòng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Tuyến 1: LLM cấu hình qua env - Gemini / OpenAI / Anthropic, đổi provider bằng AI_PROVIDER + AI_MODEL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Tuyến 2: Devin async - hết quota LLM thì tạo session xử lý, callback trả kết quả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Tuyến 3: rule-based fallback - luôn có câu trả lời hữu ích kể cả khi mọi backend chết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Ứng dụng: báo cáo hồ sơ lớp, nhận xét giáo án, gợi ý cảnh báo, trợ lý điều hành, phân tích sổ đầu bài, biên bản sinh hoạt, báo cáo Sở</a:t>
            </a:r>
          </a:p>
        </p:txBody>
      </p:sp>
      <p:pic>
        <p:nvPicPr>
          <p:cNvPr id="5" name="Picture 4" descr="25-bgh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Trợ lý AI điều hành của BGH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D4ED8"/>
                </a:solidFill>
              </a:rPr>
              <a:t>Báo cáo &amp; bảo mật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1F2937"/>
                </a:solidFill>
              </a:rPr>
              <a:t>- Xuất sổ chủ nhiệm, báo cáo Sở/Phòng (CSV/Excel), sổ cá nhân GV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RBAC 3 tầng: UI - route guard - Postgres RLS theo vai trò + quan hệ (lớp CN, tiết dạy, con mình)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Audit log mọi hành động quan trọng, trang xem cho BGH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Trang Thông báo chung cho mọi vai trò - chuông trên topbar, đánh dấu đã đọc, link nhảy tới màn hình liên quan</a:t>
            </a:r>
          </a:p>
          <a:p>
            <a:pPr/>
            <a:r>
              <a:rPr sz="1500" b="0">
                <a:solidFill>
                  <a:srgbClr val="1F2937"/>
                </a:solidFill>
              </a:rPr>
              <a:t>- Responsive mobile, sắp xếp tên theo quy tắc Việt Nam</a:t>
            </a:r>
          </a:p>
        </p:txBody>
      </p:sp>
      <p:pic>
        <p:nvPicPr>
          <p:cNvPr id="5" name="Picture 4" descr="20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234440"/>
            <a:ext cx="6035040" cy="377190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99455" y="50520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6B7280"/>
                </a:solidFill>
              </a:rPr>
              <a:t>Xuất sổ &amp; báo cáo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600" b="1">
                <a:solidFill>
                  <a:srgbClr val="FFFFFF"/>
                </a:solidFill>
              </a:rPr>
              <a:t>Bắt đầu sử dụng</a:t>
            </a:r>
          </a:p>
          <a:p>
            <a:pPr/>
            <a:r>
              <a:rPr sz="2000" b="0">
                <a:solidFill>
                  <a:srgbClr val="93C5FD"/>
                </a:solidFill>
              </a:rPr>
              <a:t>https://sochunhiem.vieschool.com</a:t>
            </a:r>
          </a:p>
          <a:p>
            <a:pPr/>
            <a:r>
              <a:rPr sz="1600" b="0">
                <a:solidFill>
                  <a:srgbClr val="D1D5DB"/>
                </a:solidFill>
              </a:rPr>
              <a:t>Tài khoản demo theo tên thật: hainv / duclm / hanhlth / anhptl / minhtv / trangpt / annv / baong @nd.scn; sovqt / daonvl / admin @demo.scn - mật khẩu: demo1234</a:t>
            </a:r>
          </a:p>
          <a:p>
            <a:pPr/>
            <a:r>
              <a:rPr sz="1400" b="0">
                <a:solidFill>
                  <a:srgbClr val="9CA3AF"/>
                </a:solidFill>
              </a:rPr>
              <a:t>Tài liệu đầy đủ: docs/user-guide/SO-CHU-NHIEM-SO-TAI-LIEU.docx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