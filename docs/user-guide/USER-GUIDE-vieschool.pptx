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slideMasters/slideMaster30.xml" ContentType="application/vnd.openxmlformats-officedocument.presentationml.slideMaster+xml"/>
  <Override PartName="/ppt/slides/slide30.xml" ContentType="application/vnd.openxmlformats-officedocument.presentationml.slide+xml"/>
  <Override PartName="/ppt/slideMasters/slideMaster31.xml" ContentType="application/vnd.openxmlformats-officedocument.presentationml.slideMaster+xml"/>
  <Override PartName="/ppt/slides/slide31.xml" ContentType="application/vnd.openxmlformats-officedocument.presentationml.slide+xml"/>
  <Override PartName="/ppt/slideMasters/slideMaster32.xml" ContentType="application/vnd.openxmlformats-officedocument.presentationml.slideMaster+xml"/>
  <Override PartName="/ppt/slides/slide32.xml" ContentType="application/vnd.openxmlformats-officedocument.presentationml.slide+xml"/>
  <Override PartName="/ppt/slideMasters/slideMaster33.xml" ContentType="application/vnd.openxmlformats-officedocument.presentationml.slideMaster+xml"/>
  <Override PartName="/ppt/slides/slide33.xml" ContentType="application/vnd.openxmlformats-officedocument.presentationml.slide+xml"/>
  <Override PartName="/ppt/slideMasters/slideMaster34.xml" ContentType="application/vnd.openxmlformats-officedocument.presentationml.slideMaster+xml"/>
  <Override PartName="/ppt/slides/slide34.xml" ContentType="application/vnd.openxmlformats-officedocument.presentationml.slide+xml"/>
  <Override PartName="/ppt/slideMasters/slideMaster35.xml" ContentType="application/vnd.openxmlformats-officedocument.presentationml.slideMaster+xml"/>
  <Override PartName="/ppt/slides/slide35.xml" ContentType="application/vnd.openxmlformats-officedocument.presentationml.slide+xml"/>
  <Override PartName="/ppt/slideMasters/slideMaster36.xml" ContentType="application/vnd.openxmlformats-officedocument.presentationml.slideMaster+xml"/>
  <Override PartName="/ppt/slides/slide36.xml" ContentType="application/vnd.openxmlformats-officedocument.presentationml.slide+xml"/>
  <Override PartName="/ppt/slideMasters/slideMaster37.xml" ContentType="application/vnd.openxmlformats-officedocument.presentationml.slideMaster+xml"/>
  <Override PartName="/ppt/slides/slide37.xml" ContentType="application/vnd.openxmlformats-officedocument.presentationml.slide+xml"/>
  <Override PartName="/ppt/slideMasters/slideMaster38.xml" ContentType="application/vnd.openxmlformats-officedocument.presentationml.slideMaster+xml"/>
  <Override PartName="/ppt/slides/slide38.xml" ContentType="application/vnd.openxmlformats-officedocument.presentationml.slide+xml"/>
  <Override PartName="/ppt/slideMasters/slideMaster39.xml" ContentType="application/vnd.openxmlformats-officedocument.presentationml.slideMaster+xml"/>
  <Override PartName="/ppt/slides/slide39.xml" ContentType="application/vnd.openxmlformats-officedocument.presentationml.slide+xml"/>
  <Override PartName="/ppt/slideMasters/slideMaster40.xml" ContentType="application/vnd.openxmlformats-officedocument.presentationml.slideMaster+xml"/>
  <Override PartName="/ppt/slides/slide40.xml" ContentType="application/vnd.openxmlformats-officedocument.presentationml.slide+xml"/>
  <Override PartName="/ppt/slideMasters/slideMaster41.xml" ContentType="application/vnd.openxmlformats-officedocument.presentationml.slideMaster+xml"/>
  <Override PartName="/ppt/slides/slide41.xml" ContentType="application/vnd.openxmlformats-officedocument.presentationml.slide+xml"/>
  <Override PartName="/ppt/slideMasters/slideMaster42.xml" ContentType="application/vnd.openxmlformats-officedocument.presentationml.slideMaster+xml"/>
  <Override PartName="/ppt/slides/slide42.xml" ContentType="application/vnd.openxmlformats-officedocument.presentationml.slide+xml"/>
  <Override PartName="/ppt/slideMasters/slideMaster43.xml" ContentType="application/vnd.openxmlformats-officedocument.presentationml.slideMaster+xml"/>
  <Override PartName="/ppt/slides/slide43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89" r:id="rId35"/>
    <p:sldId id="290" r:id="rId36"/>
    <p:sldId id="291" r:id="rId37"/>
    <p:sldId id="292" r:id="rId38"/>
    <p:sldId id="293" r:id="rId39"/>
    <p:sldId id="294" r:id="rId40"/>
    <p:sldId id="295" r:id="rId41"/>
    <p:sldId id="296" r:id="rId42"/>
    <p:sldId id="297" r:id="rId43"/>
    <p:sldId id="298" r:id="rId44"/>
  </p:sldIdLst>
  <p:notesMasterIdLst>
    <p:notesMasterId r:id="rId45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slide" Target="slides/slide30.xml"/><Relationship Id="rId32" Type="http://schemas.openxmlformats.org/officeDocument/2006/relationships/slide" Target="slides/slide31.xml"/><Relationship Id="rId33" Type="http://schemas.openxmlformats.org/officeDocument/2006/relationships/slide" Target="slides/slide32.xml"/><Relationship Id="rId34" Type="http://schemas.openxmlformats.org/officeDocument/2006/relationships/slide" Target="slides/slide33.xml"/><Relationship Id="rId35" Type="http://schemas.openxmlformats.org/officeDocument/2006/relationships/slide" Target="slides/slide34.xml"/><Relationship Id="rId36" Type="http://schemas.openxmlformats.org/officeDocument/2006/relationships/slide" Target="slides/slide35.xml"/><Relationship Id="rId37" Type="http://schemas.openxmlformats.org/officeDocument/2006/relationships/slide" Target="slides/slide36.xml"/><Relationship Id="rId38" Type="http://schemas.openxmlformats.org/officeDocument/2006/relationships/slide" Target="slides/slide37.xml"/><Relationship Id="rId39" Type="http://schemas.openxmlformats.org/officeDocument/2006/relationships/slide" Target="slides/slide38.xml"/><Relationship Id="rId40" Type="http://schemas.openxmlformats.org/officeDocument/2006/relationships/slide" Target="slides/slide39.xml"/><Relationship Id="rId41" Type="http://schemas.openxmlformats.org/officeDocument/2006/relationships/slide" Target="slides/slide40.xml"/><Relationship Id="rId42" Type="http://schemas.openxmlformats.org/officeDocument/2006/relationships/slide" Target="slides/slide41.xml"/><Relationship Id="rId43" Type="http://schemas.openxmlformats.org/officeDocument/2006/relationships/slide" Target="slides/slide42.xml"/><Relationship Id="rId44" Type="http://schemas.openxmlformats.org/officeDocument/2006/relationships/slide" Target="slides/slide43.xml"/><Relationship Id="rId45" Type="http://schemas.openxmlformats.org/officeDocument/2006/relationships/notesMaster" Target="notesMasters/notesMaster1.xml"/><Relationship Id="rId46" Type="http://schemas.openxmlformats.org/officeDocument/2006/relationships/presProps" Target="presProps.xml"/><Relationship Id="rId47" Type="http://schemas.openxmlformats.org/officeDocument/2006/relationships/viewProps" Target="viewProps.xml"/><Relationship Id="rId48" Type="http://schemas.openxmlformats.org/officeDocument/2006/relationships/theme" Target="theme/theme1.xml"/><Relationship Id="rId49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_rels/notesSlide3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0.xml"/>
		</Relationships>
</file>

<file path=ppt/notesSlides/_rels/notesSlide3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1.xml"/>
		</Relationships>
</file>

<file path=ppt/notesSlides/_rels/notesSlide3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2.xml"/>
		</Relationships>
</file>

<file path=ppt/notesSlides/_rels/notesSlide3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3.xml"/>
		</Relationships>
</file>

<file path=ppt/notesSlides/_rels/notesSlide3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4.xml"/>
		</Relationships>
</file>

<file path=ppt/notesSlides/_rels/notesSlide3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5.xml"/>
		</Relationships>
</file>

<file path=ppt/notesSlides/_rels/notesSlide3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6.xml"/>
		</Relationships>
</file>

<file path=ppt/notesSlides/_rels/notesSlide3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7.xml"/>
		</Relationships>
</file>

<file path=ppt/notesSlides/_rels/notesSlide3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8.xml"/>
		</Relationships>
</file>

<file path=ppt/notesSlides/_rels/notesSlide3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9.xml"/>
		</Relationships>
</file>

<file path=ppt/notesSlides/_rels/notesSlide4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0.xml"/>
		</Relationships>
</file>

<file path=ppt/notesSlides/_rels/notesSlide4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1.xml"/>
		</Relationships>
</file>

<file path=ppt/notesSlides/_rels/notesSlide4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2.xml"/>
		</Relationships>
</file>

<file path=ppt/notesSlides/_rels/notesSlide4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3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_rels/slide3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0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1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1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2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2.xml"/></Relationships>
</file>

<file path=ppt/slides/_rels/slide3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3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4.xml"/></Relationships>
</file>

<file path=ppt/slides/_rels/slide3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5.xml"/></Relationships>
</file>

<file path=ppt/slides/_rels/slide3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6.xml"/></Relationships>
</file>

<file path=ppt/slides/_rels/slide3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7.xml"/></Relationships>
</file>

<file path=ppt/slides/_rels/slide3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8.xml"/></Relationships>
</file>

<file path=ppt/slides/_rels/slide3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9.xml"/></Relationships>
</file>

<file path=ppt/slides/_rels/slide4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0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0.xml"/></Relationships>
</file>

<file path=ppt/slides/_rels/slide4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1.xml"/></Relationships>
</file>

<file path=ppt/slides/_rels/slide4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2.xml"/></Relationships>
</file>

<file path=ppt/slides/_rels/slide4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28016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Shape 1"/>
          <p:cNvSpPr/>
          <p:nvPr/>
        </p:nvSpPr>
        <p:spPr>
          <a:xfrm>
            <a:off x="8778240" y="128016"/>
            <a:ext cx="3410712" cy="6729984"/>
          </a:xfrm>
          <a:prstGeom prst="rect">
            <a:avLst/>
          </a:prstGeom>
          <a:solidFill>
            <a:srgbClr val="134E4A"/>
          </a:solidFill>
          <a:ln/>
        </p:spPr>
      </p:sp>
      <p:sp>
        <p:nvSpPr>
          <p:cNvPr id="4" name="Shape 2"/>
          <p:cNvSpPr/>
          <p:nvPr/>
        </p:nvSpPr>
        <p:spPr>
          <a:xfrm>
            <a:off x="9509760" y="128016"/>
            <a:ext cx="2679192" cy="6729984"/>
          </a:xfrm>
          <a:prstGeom prst="rect">
            <a:avLst/>
          </a:prstGeom>
          <a:solidFill>
            <a:srgbClr val="115E59"/>
          </a:solidFill>
          <a:ln/>
        </p:spPr>
      </p:sp>
      <p:sp>
        <p:nvSpPr>
          <p:cNvPr id="5" name="Text 3"/>
          <p:cNvSpPr/>
          <p:nvPr/>
        </p:nvSpPr>
        <p:spPr>
          <a:xfrm>
            <a:off x="9692640" y="2743200"/>
            <a:ext cx="2286000" cy="12801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SỔ CHỦ NHIỆM SỐ</a:t>
            </a:r>
            <a:endParaRPr lang="en-US" sz="2600" dirty="0"/>
          </a:p>
        </p:txBody>
      </p:sp>
      <p:sp>
        <p:nvSpPr>
          <p:cNvPr id="6" name="Text 4"/>
          <p:cNvSpPr/>
          <p:nvPr/>
        </p:nvSpPr>
        <p:spPr>
          <a:xfrm>
            <a:off x="731520" y="1828800"/>
            <a:ext cx="7863840" cy="1005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 &amp; Công cụ số Giáo viên</a:t>
            </a:r>
            <a:endParaRPr lang="en-US" sz="3200" dirty="0"/>
          </a:p>
        </p:txBody>
      </p:sp>
      <p:sp>
        <p:nvSpPr>
          <p:cNvPr id="7" name="Text 5"/>
          <p:cNvSpPr/>
          <p:nvPr/>
        </p:nvSpPr>
        <p:spPr>
          <a:xfrm>
            <a:off x="731520" y="2880360"/>
            <a:ext cx="786384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5EEAD4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HƯỚNG DẪN SỬ DỤNG &amp; GIỚI THIỆU CHỨC NĂNG</a:t>
            </a:r>
            <a:endParaRPr lang="en-US" sz="1600" dirty="0"/>
          </a:p>
        </p:txBody>
      </p:sp>
      <p:sp>
        <p:nvSpPr>
          <p:cNvPr id="8" name="Text 6"/>
          <p:cNvSpPr/>
          <p:nvPr/>
        </p:nvSpPr>
        <p:spPr>
          <a:xfrm>
            <a:off x="731520" y="3611880"/>
            <a:ext cx="786384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Phiên bản: v3.0 - 26/10/2026 (đầy đủ hướng dẫn theo 10 vai trò + hiệu ứng chuyển cảnh)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URL: https://sochunhiem.vieschool.com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Phạm vi: CTGDPT 2018, TT 22/2021, TT 27/2025, CV 5512; bảo mật theo Luật 91/2025</a:t>
            </a:r>
            <a:endParaRPr lang="en-US" sz="1300" dirty="0"/>
          </a:p>
          <a:p>
            <a:pPr indent="0" marL="0">
              <a:spcAft>
                <a:spcPts val="600"/>
              </a:spcAft>
              <a:buNone/>
            </a:pPr>
            <a:r>
              <a:rPr lang="en-US" sz="13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Dữ liệu demo: 3 trường thật quy mô, ~1 275 học sinh, ~86 cán bộ, ngân hàng câu hỏi đã dọn trùng</a:t>
            </a:r>
            <a:endParaRPr lang="en-US" sz="1300" dirty="0"/>
          </a:p>
        </p:txBody>
      </p:sp>
    </p:spTree>
  </p:cSld>
  <p:clrMapOvr>
    <a:masterClrMapping/>
  </p:clrMapOvr>
  <p:transition xmlns:p="http://schemas.openxmlformats.org/presentationml/2006/main" spd="fast" advClick="1">
    <p:push dir="l"/>
  </p:transition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GIỚI THIỆU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Nền tảng trường học toàn diện - 3 lớp module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Sổ Chủ Nhiệm Số (SCN) - vận hành lớp học &amp; nhà trường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Điểm danh, sổ điểm, hạnh kiểm, sổ liên lạc phụ huynh, thời khóa biểu, sự cố an toàn, sơ đồ chỗ ngồi, học bạ số, báo cáo BGH/Sở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quyền theo vai trò: GVCN, GVBM, Tổ trưởng, PHT, BGH, Kế toán, Sở GD&amp;ĐT, UBND, Phụ huynh, Học sinh, Admin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TVC360 Studio - công cụ soạn thảo giáo viên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KHBĐ theo CV 5512 (DC-01), ma trận đề (DC-02), đề kiểm tra (DC-03), bộ câu hỏi (DC-04), phiếu học tập (DC-05), PPTX (DC-06)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câu hỏi chung của trường gắn YCCĐ, duyệt 2 lớp, xuất DOCX/PDF/PPTX, LaTeX/KaTeX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mở rộng - bán theo gói (school_features)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Tuyển sinh đầu cấp + cổng public, Khoản thu, Bài tập trực tuyến (LMS), Thư viện, Biến động học sinh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mua gói nào - menu/route/RPC/RLS của gói đó mới hoạt động; BGH tự bật/tắt tại /school/modules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Dữ liệu theo trường (multi-tenant): mọi bảng scope school_id + RLS nghiêm ngặt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Vai trò kiêm nhiệm (multi-role): một cán bộ giữ nhiều vai trò - menu và quyền gộp từ toàn bộ vai trò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Thiết kế cho quy mô: 100 000 user giai đoạn pilot, lộ trình 1 000 000.</a:t>
            </a:r>
            <a:endParaRPr lang="en-US" sz="10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CHỨC NĂNG NỔI BẬT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Chuyên cần - điểm danh số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 trạng thái/em: Có mặt, Vắng CP, Vắng KP, Đi muộn + ghi chú lý do ngay trên dòng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Chọn ngày bất kỳ để xem lại / sửa điểm danh ngày cũ; sổ vắng-muộn theo khoảng ngày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Thông báo phụ huynh tự động (in-app + email Resend từ no-reply@vieschool.com)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Đồng bộ 2 chiều với sổ đầu bài tiết học - một ghi nhận, nhiều nơi cập nhật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1645920"/>
            <a:ext cx="53949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88900" dist="25400" dir="5400000">
              <a:srgbClr val="000000">
                <a:alpha val="30000"/>
              </a:srgbClr>
            </a:outerShdw>
          </a:effectLst>
        </p:spPr>
      </p:sp>
      <p:pic>
        <p:nvPicPr>
          <p:cNvPr id="10" name="Image 0" descr="docs/user-guide/images/03-attendance-dail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3200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517550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Điểm danh hàng ngày - tổng quan + ghi chú vắng</a:t>
            </a:r>
            <a:endParaRPr lang="en-US" sz="100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CHỨC NĂNG NỔI BẬT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Sổ điểm giáo viên - chuẩn TT22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Cột điểm động: Miệng / 15 phút / 1 tiết (hệ số 1), Giữa kỳ (x2), Cuối kỳ (x3)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 chỉ ghi điểm lớp + môn được phân công - bộ chọn môn tự lọc theo phân công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Lưu nguyên tử qua transaction; ĐTBm tự tính đúng hệ số, hiển thị HK1 / HK2 / cả năm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Import/export Excel, tải template mẫu; môn nhận xét hiển thị Đạt / Chưa đạt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1645920"/>
            <a:ext cx="53949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129030000" dist="322580000" dir="324000000000">
              <a:srgbClr val="000000">
                <a:alpha val="3000000000"/>
              </a:srgbClr>
            </a:outerShdw>
          </a:effectLst>
        </p:spPr>
      </p:sp>
      <p:pic>
        <p:nvPicPr>
          <p:cNvPr id="10" name="Image 0" descr="docs/user-guide/images/07-grade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3200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517550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Sổ điểm cột động theo Thông tư 22</a:t>
            </a:r>
            <a:endParaRPr lang="en-US" sz="100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CHỨC NĂNG NỔI BẬT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Thời khóa biểu &amp; Sổ đầu bài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chế độ: lịch cá nhân (mọi GV) + theo lớp (GVCN xem lớp CN, BGH toàn trường)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Sổ đầu bài: chỉ GV được phân công tiết đó mới ghi; điểm danh theo tiết đồng bộ chuyên cần ngày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Cộng/trừ điểm rèn luyện ngay trong sổ đầu bài; BGH import TKB hàng loạt từ Excel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1645920"/>
            <a:ext cx="53949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4338681000000" dist="4096766000000" dir="19440000000000000">
              <a:srgbClr val="000000">
                <a:alpha val="300000000000000"/>
              </a:srgbClr>
            </a:outerShdw>
          </a:effectLst>
        </p:spPr>
      </p:sp>
      <p:pic>
        <p:nvPicPr>
          <p:cNvPr id="10" name="Image 0" descr="docs/user-guide/images/08-timetable-m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3200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517550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Lịch dạy cá nhân</a:t>
            </a:r>
            <a:endParaRPr lang="en-US" sz="100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CHỨC NĂNG NỔI BẬT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BGH - điều hành trường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5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Trung tâm phê duyệt: kế hoạch HĐ, giáo án, đánh giá - một nơi xử lý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cảnh báo sớm: lớp/HS rủi ro theo chuyên cần + điểm + sự cố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Ký sổ chủ nhiệm: tạo đợt ký - duyệt/từ chối kèm lý do - ký hàng loạt; GVCN không tự ký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Chỉ BGH phân công GVCN &amp; lớp năm học; trợ lý AI điều hành hỏi-đáp trên dữ liệu thật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1645920"/>
            <a:ext cx="53949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82101248700000000" dist="52028928200000000" dir="1.1664e+21">
              <a:srgbClr val="000000">
                <a:alpha val="30000000000000000000"/>
              </a:srgbClr>
            </a:outerShdw>
          </a:effectLst>
        </p:spPr>
      </p:sp>
      <p:pic>
        <p:nvPicPr>
          <p:cNvPr id="10" name="Image 0" descr="docs/user-guide/images/23-bgh-ra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3200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517550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cảnh báo sớm toàn trường</a:t>
            </a:r>
            <a:endParaRPr lang="en-US" sz="100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CHỨC NĂNG NỔI BẬT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Học bạ số - quyết định cuối năm TT22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Học bạ điện tử thay sổ giấy: điểm HK1/HK2/cả năm từng môn, hạnh kiểm, NLPC, chuyên cần buổi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Hệ thống gợi ý xếp loại theo TT22/2021 - override bắt buộc căn cứ pháp lý (Điều 9.3 / sau đánh giá lại / HS khuyết tật / miễn môn)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 3 bước: GVCN lưu nháp/trình (anhptl@nd.scn) → BGH duyệt/trả lại kèm lý do (hainv@nd.scn) → khóa qua đợt duyệt sổ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Stages: quyết định đầu năm → sau đánh giá lại / sau rèn luyện hè (theo kết quả lên lớp)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Xuất DOCX/PDF từng HS hoặc cả lớp - watermark 'BẢN NHÁP - CHƯA DUYỆT' khi chưa duyệt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quyền: GVCN chỉ lớp mình; PHT chỉ cơ sở mình; Sở GD/UBND xem chỉ đọc; HS xem học bạ bản thân trên portal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1645920"/>
            <a:ext cx="53949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31268585849e+21" dist="660767388140000000000" dir="6.9984e+25">
              <a:srgbClr val="000000">
                <a:alpha val="3e+24"/>
              </a:srgbClr>
            </a:outerShdw>
          </a:effectLst>
        </p:spPr>
      </p:sp>
      <p:pic>
        <p:nvPicPr>
          <p:cNvPr id="10" name="Image 0" descr="docs/user-guide/images/32-hoc-ba-so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3200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517550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Học bạ số lớp 8A2 - trạng thái duyệt/khóa theo TT22</a:t>
            </a:r>
            <a:endParaRPr lang="en-US" sz="100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CHỨC NĂNG NỔI BẬT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Phụ huynh &amp; Học sinh - cổng hai chiều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 chỉ thấy con mình (nhiều con: bộ chọn trên đầu portal, dữ liệu tách theo từng em)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Nhắn tin 2 chiều với GVCN; đặt lịch hẹn trực tuyến - GVCN xác nhận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Digest email tuần tự động gửi PH; bounce/complaint được webhook Resend ghi nhận, không retry lặp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Học sinh: TKB, điểm số, hạnh kiểm, thông báo - mọi ghi kiểm tra quyền sở hữu ở server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1645920"/>
            <a:ext cx="53949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9371110402823e+25" dist="8.391745829378e+24" dir="4.19904e+30">
              <a:srgbClr val="000000">
                <a:alpha val="3e+29"/>
              </a:srgbClr>
            </a:outerShdw>
          </a:effectLst>
        </p:spPr>
      </p:sp>
      <p:pic>
        <p:nvPicPr>
          <p:cNvPr id="10" name="Image 0" descr="docs/user-guide/images/30-parent-por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3200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517550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Portal phụ huynh</a:t>
            </a:r>
            <a:endParaRPr lang="en-US" sz="100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CHỨC NĂNG NỔI BẬT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Studio TVC360 - soạn học liệu &amp; ngân hàng câu hỏi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8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Bộ công cụ theo môn: DC-01..06 (chung), Toán (T-01/02), Văn (V-01/02), Anh (A-01..03)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chung của trường gắn YCCĐ; đã dọn trùng - mỗi câu gộp đủ chuẩn, không bản lặp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Môn học đúng cấp: Ngữ văn 6-12, Tiếng Việt 1-5, Tiếng Anh 3-12 theo CTGDPT 2018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A-03 sinh hội thoại + bài nghe kèm AUDIO THẬT (giọng neural) phát ngay trong trình duyệt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Hình Toán vẽ SVG tham số (deterministic); LaTeX -&gt; Word Equation native khi xuất DOCX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1645920"/>
            <a:ext cx="53949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.730131021158521e+29" dist="1.0657517203310059e+29" dir="2.519424e+35">
              <a:srgbClr val="000000">
                <a:alpha val="2.9999999999999997e+34"/>
              </a:srgbClr>
            </a:outerShdw>
          </a:effectLst>
        </p:spPr>
      </p:sp>
      <p:pic>
        <p:nvPicPr>
          <p:cNvPr id="10" name="Image 0" descr="docs/user-guide/images/17-exam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3200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517550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câu hỏi và sinh đề theo ma trận</a:t>
            </a:r>
            <a:endParaRPr lang="en-US" sz="100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MỞ RỘNG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Tuyển sinh đầu cấp - quy trình chuẩn, có cổng public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luồng theo cấp: Khối 6 xét tuyển theo địa bàn; Khối 10 thi tuyển 3 môn (Toán/Văn/NN + chuyên) có SBD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Flow Khối 6: submitted → approved/rejected → enrolled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Flow Khối 10: submitted → exam_registered (cấp SBD) → chấm điểm → passed/failed theo điểm chuẩn → enrolled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Cổng công khai /apply: phụ huynh nộp hồ sơ + tra cứu trạng thái tại /apply/tra-cuu - KHÔNG cần tài khoản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Hồ sơ trúng tuyển → nhập học → gán mã định danh (national_id) → phân công giảng dạy sẵn có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Quản lý tại /school/admissions (BGH/admin/so_gd); campaign có quota + benchmark theo năm</a:t>
            </a:r>
            <a:endParaRPr lang="en-US" sz="12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MỞ RỘNG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Khoản thu - phân hệ tài chính của trường (/finance)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Danh mục khoản thu: học phí, tiền ăn, bán trú, trang phục, bảo hiểm, SGK, hoạt động - bắt buộc hoặc tự nguyên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Đăng ký khoản thu theo lớp/khối → định mức/HS → miễn giảm (hộ nghèo, chính sách) → đợt thu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Thu tiền: tiền mặt/chuyển khoản + biên lai tự đánh số atomic theo trường; thông báo PH trong cùng RPC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Công nợ + báo cáo thu chi (/finance/reports); PH xem khoản thu của con trên portal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quyền: kế toán + BGH/admin ghi; Sở GD và PH chỉ đọc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Thiết kế tham chiếu phân hệ Khoản thu của MISA EMIS (phân tích đối thủ)</a:t>
            </a:r>
            <a:endParaRPr lang="en-US" sz="12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MỞ RỘNG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Bài tập trực tuyến (LMS-lite) - HS làm bài ngay trên hệ thống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 giao đề đã có (tvc_exams) cho lớp: chọn lớp + cửa sổ mở/đóng + thời lượng → tạo session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 thấy bài được giao trong portal, làm trong cửa sổ cho phép, nộp 1 lần (/portal/student/bai-thi)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Chấm tự động: trắc nghiệm, đúng/sai 4 ý, trả lời ngắn theo answer.correct; tự luận → essay_pending cho GV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 xem kết quả theo session: điểm tự động, trạng thái nộp, danh sách HS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Tận dụng sẵn ngân hàng câu hỏi + ma trận sinh đề - vòng khép kín: soạn → duyệt → giao → chấm</a:t>
            </a:r>
            <a:endParaRPr lang="en-US" sz="12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MỞ RỘNG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Thư viện + Biến động học sinh - quy trình hành chính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Thư viện (/library): danh mục sách, ĐKCB đánh số atomic theo trường, mượn/trả cho HS và GV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Quá hạn tính từ due_at (không lưu trạng thái riêng); admin/BGH quản lý, HS xem sách đang mượn trên portal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Biến động HS (/movements): chuyển đến/chuyển đi/bảo lưu/nhập học lại - 4 loại yêu cầu có duyệt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Flow: GVCN/staff tạo yêu cầu → BGH phê duyệt → students.status cập nhật (transferred/reserved/active)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Snapshot tên + lớp tại thời điểm yêu cầu (audit-sound); mọi write qua RPC - theo TT 32/2020 Điều lệ trường</a:t>
            </a:r>
            <a:endParaRPr lang="en-US" sz="12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MỞ RỘNG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flags - trường mua gói nào dùng gói đó (/school/modules)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school_features(school_id, module, enabled): BGH/admin bật-tắt module của trường mình; so_gd set default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Tắt module = mất nav + redirect route + RPC trả module_disabled + RLS chặn PostgREST - 4 lớp phòng thủ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Vừa là cơ chế bán hàng theo gói, vừa làm menu gọn cho trường không dùng module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Keys: studio, hoc_ba, attendance, conduct, safety, parents_portal, exams, emulation, substitutes, counseling, dept_report, tuyen_sinh, khoan_thu, lms_lite, thu_vien, bien_dong_hs</a:t>
            </a:r>
            <a:endParaRPr lang="en-US" sz="12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DỮ LIỆU DEMO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 trường thật quy mô - đủ mọi tình huống nghiệp vụ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14</a:t>
            </a:r>
            <a:endParaRPr lang="en-US" sz="900" dirty="0"/>
          </a:p>
        </p:txBody>
      </p:sp>
      <p:graphicFrame>
        <p:nvGraphicFramePr>
          <p:cNvPr id="1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Trường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Cấp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Học sinh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Cán bộ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Đặc điểm demo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THCS Nguyễn Du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THCS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12 (6A1-9A3)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~435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34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 cơ sở, 4 tổ CM - demo giới hạn PHT theo cơ sở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Tiểu học Chu Văn An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15 (1A1-5A3)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~500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Đánh giá mức độ TT 22/2021, 4 tổ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Tiểu học Kim Đồng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10 (1A1-5A2)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~340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22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 tổ, đa trường cùng Sở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393192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Mỗi trường: đủ BGH/PHT/kế toán/tổ trưởng/GVCN/GVBM phân môn, TKB đầy đủ, điểm, chuyên cần, hạnh kiểm, hoạt động, sự cố, cảnh báo sớm, kế hoạch hỗ trợ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câu hỏi TVC360: 360 câu/trường gán đúng giáo viên của trường đó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THCS Nguyễn Du có 2 cơ sở - khối A3 thuộc Cơ sở 2 do PHT phụ trách, dùng demo giới hạn phạm vi</a:t>
            </a:r>
            <a:endParaRPr lang="en-US" sz="12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TÀI KHOẢN DEMO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Đăng nhập https://sochunhiem.vieschool.com/login - mật khẩu chung: demo1234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502920" y="1170432"/>
            <a:ext cx="11155680" cy="4114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5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Đăng nhập có Turnstile chống bot (ẩn - không cần thao tác thêm); giới hạn xuất file tối đa 20 lần/giờ/tài khoản</a:t>
            </a:r>
            <a:endParaRPr lang="en-US" sz="1250" dirty="0"/>
          </a:p>
        </p:txBody>
      </p:sp>
      <p:sp>
        <p:nvSpPr>
          <p:cNvPr id="6" name="Shape 4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15</a:t>
            </a:r>
            <a:endParaRPr lang="en-US" sz="9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Tài khoản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Nhân sự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Vai trò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Dùng để test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hainv@nd.scn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Nguyễn Văn Hải - HT Nguyễn Du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bgh + gvbm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Quản trị trường, duyệt cuối, Studio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duclm@nd.scn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Lê Minh Đức - PHT cơ sở 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pht + gvbm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Chỉ thấy lớp Cơ sở 2, kiêm dạy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hanhlth@nd.scn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Lê Thị Hồng Hạnh - Tổ Toán-TN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to_truong + gvbm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Duyệt lớp tổ, giảng dạy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anhptl@nd.scn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Phạm Thị Lan Anh - GVCN 8A2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gvcn + gvbm + to_truong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3 vai trò - điểm nhấn kiêm nhiệm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minhtv@nd.scn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Trần Văn Minh - GV Vật lý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gvbm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Đơn vai trò - chứng minh quyền giữ nguyên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trangpt@nd.scn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Phạm Thu Trang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ke_toan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Nhân sự, thu chi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annv@nd.scn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Nguyễn Văn An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phu_huynh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Portal PH - chỉ thấy con (Bảo 8A2)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baong@nd.scn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Nguyễn Gia Bảo - lớp 8A2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hoc_sinh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Portal HS - TKB, điểm, học bạ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sovqt@demo.scn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Vũ Quản Trị Sở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so_gd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Tạo trường, dashboard 3 trường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daonvl@demo.scn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Ngô Văn Lãnh Đạo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ubnd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Dashboard địa bàn - chỉ đọc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10896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admin@demo.scn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Quản trị hệ thống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admin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Toàn hệ thống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0" name="Text 7"/>
          <p:cNvSpPr/>
          <p:nvPr/>
        </p:nvSpPr>
        <p:spPr>
          <a:xfrm>
            <a:off x="640080" y="623620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Trường khác: phuongttm / oanhdtk / lienttb / havt @cva.scn và longhd / ngaltt / anhdn @kd.scn. GV còn lại: tenvt@{nd|cva|kd}.scn (ten + viet tat ho dem).</a:t>
            </a:r>
            <a:endParaRPr lang="en-US" sz="10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VAI TRÒ KIÊM NHIỆM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Đúng thực tế trường Việt Nam - GVCN luôn kiêm dạy, tổ trưởng vẫn đứng lớp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Một cán bộ = 1 vai trò chính + nhiều vai trò kiêm nhiệm (concurrent roles)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Ví dụ: GVCN 8A2 đồng thời là GV dạy Toán và Tổ trưởng Toán-Tự nhiên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PHT/Hiệu trưởng vẫn phân công dạy - kiêm GVBM là mặc định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Quyền = hợp của mọi vai trò, tính ở 3 tầng nhất quán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UI: menu gộp + topbar hiện đủ nhãn vai trò; trang Hồ sơ hiện badge từng vai trò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Server action: checkActionRole nhận role kiêm nhiệm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Database: 158 RLS policies dùng my_roles() - không lách tầng app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An toàn: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Chỉ BGH/admin gán kiêm nhiệm tại /school/users - user tự sửa bị trigger chặn (chống leo quyền)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Chỉ vai trò nhân sự được kiêm; admin/phụ huynh/học sinh không thể kiêm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Người chỉ có 1 vai trò (gvbm thuần) vẫn bị chặn đúng route như trước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Cài đặt: /school/users → sửa cán bộ → tick 'Vai trò kiêm nhiệm'. Chỉ chức năng được quyền mới hiện trên menu.</a:t>
            </a:r>
            <a:endParaRPr lang="en-US" sz="10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QUYỀN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 trận tóm tắt - menu chỉ hiện chức năng được cấp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17</a:t>
            </a:r>
            <a:endParaRPr lang="en-US" sz="900" dirty="0"/>
          </a:p>
        </p:txBody>
      </p:sp>
      <p:graphicFrame>
        <p:nvGraphicFramePr>
          <p:cNvPr id="19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1828800"/>
                <a:gridCol w="1828800"/>
                <a:gridCol w="1828800"/>
                <a:gridCol w="1828800"/>
                <a:gridCol w="1828800"/>
                <a:gridCol w="1828800"/>
              </a:tblGrid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Chức năng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GVBM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GVCN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Tổ trưởng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BGH/Admin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Studio soạn học liệu DC-01..06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Ngân hàng câu hỏi - xem/đóng góp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Duyệt câu hỏi/học liệu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tổ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BGH (cuối)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Điểm danh, hạnh kiểm, SLĐ lớp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CN mình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Xem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Cơ sở mình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Nhập điểm môn dạy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mình dạy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mình dạy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mình dạy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Hồ sơ HS toàn trường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Lớp CN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Xem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Học bạ số - quyết định cuối năm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Trình (lớp CN)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Xem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Xem cơ sở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Duyệt + xuất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29184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Quản trị user/quyền/ACL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-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Có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5321808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Kiêm nhiệm: quyền = hợp vai trò - GVCN kiêm tổ trưởng được cả 2 cột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PHT giới hạn theo cơ sở (campus); không tiếp cận hồ sơ chi tiết HS (ẩn national_id)</a:t>
            </a:r>
            <a:endParaRPr lang="en-US" sz="11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1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quyền 3 lớp: mặc định theo vai trò → cấu hình theo trường → ghi đè từng cán bộ (/school/users)</a:t>
            </a:r>
            <a:endParaRPr lang="en-US" sz="1150" dirty="0"/>
          </a:p>
        </p:txBody>
      </p:sp>
      <p:sp>
        <p:nvSpPr>
          <p:cNvPr id="10" name="Text 7"/>
          <p:cNvSpPr/>
          <p:nvPr/>
        </p:nvSpPr>
        <p:spPr>
          <a:xfrm>
            <a:off x="640080" y="6236208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Sở GD&amp;ĐT/UBND: giám sát + tạo trường + xem học bạ chỉ đọc, không vào nghiệp vụ lớp. Kiểm chứng tự động: node scripts/check-nav-access.mjs (158 hrefs).</a:t>
            </a:r>
            <a:endParaRPr lang="en-US" sz="10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 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Giáo viên chủ nhiệm - ngày làm việc điển hình (anhptl@nd.scn)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18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Topbar hiện 'Giáo viên chủ nhiệm · Giáo viên bộ môn · Tổ trưởng chuyên môn' - menu gộp đủ 3 vai trò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Sáng: Điểm danh (/attendance/daily) - chọn lớp 8A2, tích vắng, lưu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Đồng bộ sổ đầu bài (period log); cảnh báo vắng nhiều ngày; PH nhận thông báo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Trong ngày: sự cố (/safety/report), nhận xét hạnh kiểm (/conduct/records), sổ điểm Toán (/academics/grades)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Liên lạc PH: /parents/compose - soạn + gửi email cho CMHS (Resend)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GVCN cấp tài khoản cổng PH tại /register/roster; PH chỉ thấy đúng con mình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Kiêm tổ trưởng: mở /team/lesson-plans duyệt giáo án GV trong tổ - menu 'Tổ chuyên môn' chỉ hiện khi có vai trò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Cuối kỳ: báo cáo chuyên cần, hạnh kiểm TT22 (HK1/HK2/cả năm tách biệt), ký duyệt sổ</a:t>
            </a:r>
            <a:endParaRPr lang="en-US" sz="13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 2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Giáo viên bộ môn - biên soạn trên Studio (/studio)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19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Chọn công cụ DC-01..06 / T-01..02 / V-01..02 / A-01..03 → điền môn/khối/bài → Sinh (AI hoặc fallback rule-based khi hết quota)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Môn tự preselect theo môn phụ trách của GV; công thức LaTeX $...$ render KaTeX, xuất DOCX thành Word Equation native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A-03 (Tiếng Anh): hội thoại + bài nghe kèm audio thật (giọng neural), phát ngay trong trang xem học liệu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Chỉnh sửa trực tiếp → Lưu vào Thư viện của tôi (/studio/library)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Gửi duyệt → tổ trưởng nhận notification → BGH duyệt cuối → published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Xuất: DOCX (đề/KHBĐ/phiếu), PDF (trang in), PPTX (DC-06)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Các trang con Studio (Thư viện, Ngân hàng, Kho ngữ liệu, YCCĐ, Mẫu KHBĐ) đều có link 'Tất cả công cụ' quay về /studio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sinh có kiểm chứng 2 lớp: prompt ép khung + sanitizer lọc nội dung lạc đề (đáp án/phiếu rời rạc bị cắt).</a:t>
            </a:r>
            <a:endParaRPr lang="en-US" sz="10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CÔNG CỤ DC-01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Kế hoạch bài dạy (KHBĐ) - khung Công văn 5512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Input: Môn / Khối / Bài học (chọn YCCĐ) / Số tiết / Mẫu KHBĐ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Mẫu hệ thống theo CV 5512 hoặc mẫu riêng của trường tại /studio/mau-khbd (admin tạo, đặt mặc định)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Output đúng biểu mẫu: I. Mục tiêu - II. Thiết bị DH - III. Tiến trình - IV. Điều chỉnh + Ký duyệt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Mỗi hoạt động đủ: a) Mục tiêu, b) Nội dung, c) Tổ chức (bảng 2 cột GV-HS | Nội dung), d) Sản phẩm, đ) Đánh giá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Phụ lục đánh giá theo hoạt động; không còn mục 'ĐÁP ÁN/PHIẾU BÀI TẬP' lạc đề (sanitizer lọc)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Xuất DOCX - in ký duyệt; sửa được trực tiếp trước khi lưu/gửi duyệt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Nếu AI trả sai khung → hệ thống tự loại và dùng bản rule-based đủ cấu trúc</a:t>
            </a:r>
            <a:endParaRPr lang="en-US" sz="13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CÔNG CỤ DC-02 + DC-03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 trận đề và sinh đề kiểm tra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DC-02: chọn môn/khối/đợt KT → ma trận YCCĐ × mức độ (Nhận biết/Hiểu/Vận dụng) đúng tỷ lệ quy định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Đợt giữa kì cho lớp 1-3 cảnh báo TT22 (không bắt buộc KT giấy)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DC-03: chọn ma trận → rút câu từ ngân hàng CỦA TRƯỜNG → đề chính + đề dự phòng + bảng đáp án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Ưu tiên không trùng câu giữa 2 đề; trộn đáp án trắc nghiệm tự động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Ô ma trận thiếu câu → báo THIẾU trung thực, không lấy câu sai YCCĐ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Tick 'Chỉ câu đã duyệt' → chỉ rút câu approved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Cấp tiểu học: tự đổi mẫu - Phần I trắc nghiệm gộp + Phần II tự luận, có chỗ mã phách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Kèm biên bản phản biện đề (chủ tọa/thư ký/ủy viên) đúng quy trình ra đề của trường</a:t>
            </a:r>
            <a:endParaRPr lang="en-US" sz="13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CÔNG CỤ DC-04 / DC-05 / DC-06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Bộ câu hỏi, phiếu học tập, bài trình chiếu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22</a:t>
            </a:r>
            <a:endParaRPr lang="en-US" sz="900" dirty="0"/>
          </a:p>
        </p:txBody>
      </p:sp>
      <p:graphicFrame>
        <p:nvGraphicFramePr>
          <p:cNvPr id="2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2743200"/>
                <a:gridCol w="2743200"/>
                <a:gridCol w="2743200"/>
                <a:gridCol w="27432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Công cụ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Input chính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Output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Xuất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DC-04 Bộ câu hỏi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Môn/khối/YCCĐ/số câu/mức độ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Bộ câu hỏi luyện tập + đáp án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DC-05 Phiếu học tập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Môn/khối/bài + trọng tâm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Phiếu BT có bài tập + hướng dẫn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DOCX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DC-06 Bài trình chiếu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Môn/khối/YCCĐ/số slide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Slide theo tiến trình KHBĐ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PPTX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420624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Mọi công cụ: lưu thư viện → gửi duyệt → xuất file; AI sinh có kiểm chứng (schema + YCCĐ gate + sanitizer)</a:t>
            </a:r>
            <a:endParaRPr lang="en-US" sz="12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CÂU HỎI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chung của trường (/studio/questions)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 cùng trường đóng góp chung; filter: Cả trường / Của tôi / Môn của tổ tôi; phân trang server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Đã dọn trùng toàn bank: gộp theo (câu hỏi, khối, môn, dạng), giữ bản đã duyệt, union đủ YCCĐ - 0 câu lặp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Môn đúng cấp học: Ngữ văn chỉ khối 6-12 (Tiếng Việt 1-5), Tiếng Anh 3-12 - bộ chọn khối theo môn tự lọc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Thêm tay hoặc import ảnh/PDF (AI đọc) hoặc template Excel; validate: đúng qtype, mức độ, YCCĐ, stem tham chiếu hình phải kèm media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Duyệt: từng câu hoặc bulk (tối đa 200 câu/lần); trạng thái: chưa duyệt → đã duyệt / đánh dấu lỗi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Hình trong câu hỏi: upload ảnh HOẶC hình vẽ tham số SVG cho Toán (tam giác, HCN, tròn, góc, đồng hồ) - deterministic, không AI sinh ảnh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Câu nghe Tiếng Anh: transcript ở Ngữ cảnh + nút Nghe thử (TTS trình duyệt)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Mã câu tự sinh dạng &lt;YCCĐ&gt;-&lt;D|F|S|E&gt;&lt;seq&gt; theo quy ước ngành</a:t>
            </a:r>
            <a:endParaRPr lang="en-US" sz="1350" dirty="0"/>
          </a:p>
        </p:txBody>
      </p:sp>
      <p:sp>
        <p:nvSpPr>
          <p:cNvPr id="9" name="Text 7"/>
          <p:cNvSpPr/>
          <p:nvPr/>
        </p:nvSpPr>
        <p:spPr>
          <a:xfrm>
            <a:off x="640080" y="6263640"/>
            <a:ext cx="109728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i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Demo: 360 câu/trường; quyền duyệt tính theo role set - tổ trưởng kiêm nhiệm vẫn duyệt được.</a:t>
            </a:r>
            <a:endParaRPr lang="en-US" sz="10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QUY TRÌNH DUYỆT 2 LỚP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Tác giả → Tổ trưởng → BGH → published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24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Lớp 1 - Tổ trưởng chuyên môn: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hàng: filter 'Môn của tổ tôi' - chỉ thấy môn tổ mình; Thư viện: 'Chờ duyệt - môn của tổ' xếp trên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Duyệt / trả về kèm nhận xét → tác giả nhận notification in-app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Lớp 2 - BGH/admin: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Thấy tất cả, duyệt cuối → published; mọi thao tác ghi audit trail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Vai trò kiêm nhiệm áp dụng thật: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GVCN kiêm tổ trưởng (như cô Lan Anh) vẫn vào được queue duyệt của tổ mình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Hàm DB (scn_review_material, scn_can_write_grade...) kiểm tra trên tập vai trò - không bypass được qua UI</a:t>
            </a:r>
            <a:endParaRPr lang="en-US" sz="13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QUẢN TRỊ TRƯỜNG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Trang /school/users - BGH/admin của từng trường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25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Thêm cán bộ: email + mật khẩu + vai trò chính + vai trò kiêm nhiệm (checkbox) + cơ sở + tổ + mã NV + hợp đồng + trình độ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Gán môn phụ trách (chip multi-select → teacher_subjects) - Studio tự preselect môn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Tổ chuyên môn - môn học: gán môn cho tổ; cảnh báo vàng khi GV dạy môn khác tổ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Ma trận quyền chức năng: 6 chức năng × 6 vai trò × 3 trạng thái (mặc định/cấm/cho) + quyền riêng từng người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Có grant xung đột giữa các vai trò kiêm nhiệm → deny thắng (an toàn)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ACL dữ liệu tới item: ẩn một câu hỏi/học liệu cụ thể với một GV - GV khác vẫn thấy (RLS level)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Chống leo quyền: trigger DB chặn user tự sửa vai trò/trường/kiêm nhiệm - chỉ BGH/admin được đổi</a:t>
            </a:r>
            <a:endParaRPr lang="en-US" sz="13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KHỞI TẠO TRƯỜNG MỚI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 đường - giao diện từng bước HOẶC import Excel hàng loạt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Đường 1 - Giao diện: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Sở GD/admin: /dept/schools → 'Tạo trường' (tự tạo năm học, 2 tổ, bộ môn theo cấp, tài khoản BGH)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BGH: /school/campuses khai cơ sở → /school/departments tổ CM → /school/users thêm cán bộ → tạo lớp → GVCN liên kết PH - HS → import TKB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Đường 2 - Import Excel hàng loạt (khuyến nghị cho trường lớn):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Tải workbook mẫu khoi-tao-truong.xlsx: 8 sheet (cơ sở, tổ, cán bộ, lớp, HS, phụ huynh, TKB + hướng dẫn)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Chạy: node scripts/bootstrap-school.mjs --file &lt;xlsx&gt; --school &lt;MA&gt; --apply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Tự tạo: tài khoản + vai trò kiêm nhiệm + môn dạy + trưởng tổ + lớp + GVCN + HS + PH/tài khoản PH + TKB</a:t>
            </a:r>
            <a:endParaRPr lang="en-US" sz="13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2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Chạy lại nhiều lần an toàn (idempotent); có --cleanup dọn về 0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Hướng dẫn chi tiết: docs/user-guide/KHOI-TAO-TRUONG-MOI.md + checklist nghiệm thu</a:t>
            </a:r>
            <a:endParaRPr lang="en-US" sz="13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5120640"/>
            <a:ext cx="2679192" cy="1737360"/>
          </a:xfrm>
          <a:prstGeom prst="rect">
            <a:avLst/>
          </a:prstGeom>
          <a:solidFill>
            <a:srgbClr val="134E4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737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PHẦN II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228600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Hướng dẫn theo vai trò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88620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Thao tác chi tiết từng chức năng - đúng thực tế trường Việt Nam. Ảnh chụp trực tiếp từ hệ thống.</a:t>
            </a:r>
            <a:endParaRPr lang="en-US" sz="1400" dirty="0"/>
          </a:p>
        </p:txBody>
      </p:sp>
    </p:spTree>
  </p:cSld>
  <p:clrMapOvr>
    <a:masterClrMapping/>
  </p:clrMapOvr>
  <p:transition xmlns:p="http://schemas.openxmlformats.org/presentationml/2006/main" spd="fast" advClick="1">
    <p:push dir="l"/>
  </p:transition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GVCN - HỒ SƠ LỚP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Sơ đồ lớp &amp; danh sách học sinh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Sơ đồ lớp: kéo-thả HS vào ô ghế; +/− Hàng, +/− Cột đổi lưới mà giữ nguyên vị trí đã xếp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Lưu sơ đồ tạo phiên bản mới - xem lại 'Lịch sử phiên bản sơ đồ'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Danh sách HS &amp; Tổ: Thêm tổ → Chia đều tổ tự động; gán Ban cán sự bằng dropdown từng dòng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Khu vực Liên kết phụ huynh: tạo tài khoản PH gắn đúng HS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1645920"/>
            <a:ext cx="53949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4.737266396871321e+33" dist="1.3535046848203775e+33" dir="1.5116544e+40">
              <a:srgbClr val="000000">
                <a:alpha val="3e+39"/>
              </a:srgbClr>
            </a:outerShdw>
          </a:effectLst>
        </p:spPr>
      </p:sp>
      <p:pic>
        <p:nvPicPr>
          <p:cNvPr id="10" name="Image 0" descr="docs/user-guide/images/11-seatin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3200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517550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Sơ đồ chỗ ngồi kéo-thả</a:t>
            </a:r>
            <a:endParaRPr lang="en-US" sz="100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GVCN - RÈN LUYỆN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Nhận xét &amp; vi phạm / khen thưởng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28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Chọn HS → loại (Nhận xét / Khen thưởng / Vi phạm) → ngày, điểm +/−, nội dung → Ghi nhận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Menu Đánh giá &amp; xếp loại: xếp loại hạnh kiểm học kỳ cho cả lớp (HK1/HK2/CN tách biệt theo TT22)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Cộng/trừ điểm rèn luyện cũng ghi được ngay trong sổ đầu bài tiết học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1645920"/>
            <a:ext cx="53949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6.016328324026578e+37" dist="1.7189509497218795e+37" dir="9.069926400000001e+44">
              <a:srgbClr val="000000">
                <a:alpha val="3e+44"/>
              </a:srgbClr>
            </a:outerShdw>
          </a:effectLst>
        </p:spPr>
      </p:sp>
      <p:pic>
        <p:nvPicPr>
          <p:cNvPr id="10" name="Image 0" descr="docs/user-guide/images/13-conduct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3200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517550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Sổ rèn luyện - nhận xét và điểm +/−</a:t>
            </a:r>
            <a:endParaRPr lang="en-US" sz="100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GVCN - PHỤ HUYNH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Liên lạc &amp; Ban đại diện CMHS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29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Soạn &amp; gửi thông báo: phạm vi cả lớp / PH từng em - PH nhận in-app + email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Hộp thư phản hồi: đọc/trả lời tin nhắn PH trong cùng hội thoại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Lịch hẹn trao đổi: xác nhận/từ chối lịch PH đề xuất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 đại diện CMHS: thêm thành viên + vai trò Trưởng/Phó/Ủy viên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1645920"/>
            <a:ext cx="53949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7.640736971513755e+41" dist="2.183067706146787e+41" dir="5.44195584e+49">
              <a:srgbClr val="000000">
                <a:alpha val="2.9999999999999997e+49"/>
              </a:srgbClr>
            </a:outerShdw>
          </a:effectLst>
        </p:spPr>
      </p:sp>
      <p:pic>
        <p:nvPicPr>
          <p:cNvPr id="10" name="Image 0" descr="docs/user-guide/images/14-parents-compos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3200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517550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Soạn thông báo gửi phụ huynh</a:t>
            </a:r>
            <a:endParaRPr lang="en-US" sz="100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GVCN - AN TOÀN &amp; TƯ VẤN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Tư vấn học sinh &amp; sự cố an toàn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30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Tư vấn: Tiếp nhận ca → Đánh giá mức độ (AI gợi ý) → ca Cao chuyển tuyến chuyên gia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Sự cố: ghi nhận loại + mức độ - AI viết lại mô tả → theo dõi xử lý → lưu trữ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Sự cố toàn trường BGH đánh dấu đã báo cáo - một luồng khép kín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1645920"/>
            <a:ext cx="53949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9.703735953822469e+45" dist="2.7724959868064195e+45" dir="3.2651735040000005e+54">
              <a:srgbClr val="000000">
                <a:alpha val="2.9999999999999996e+54"/>
              </a:srgbClr>
            </a:outerShdw>
          </a:effectLst>
        </p:spPr>
      </p:sp>
      <p:pic>
        <p:nvPicPr>
          <p:cNvPr id="10" name="Image 0" descr="docs/user-guide/images/15-safet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3200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517550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Ghi nhận và xử lý sự cố</a:t>
            </a:r>
            <a:endParaRPr lang="en-US" sz="100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GVCN - KỲ THI &amp; KẾ HOẠCH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Kỳ thi, thi đua, kế hoạch tháng, xuất sổ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31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Kỳ thi: tạo kỳ → thêm buổi thi (tay/Import Excel) → công bố; 'Mở ngân hàng câu hỏi' nhảy sang Studio rút câu vào đề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Thi đua: chấm điểm tiêu chí lớp mình; bảng xếp hạng toàn trường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Kế hoạch tháng / sơ kết tuần: checklist + 'AI gợi ý công việc' đọc lịch năm học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Xuất sổ: CSV toàn bộ dữ liệu sổ chủ nhiệm</a:t>
            </a:r>
            <a:endParaRPr lang="en-US" sz="1250" dirty="0"/>
          </a:p>
          <a:p>
            <a:pPr marL="381000" indent="-381000">
              <a:spcAft>
                <a:spcPts val="800"/>
              </a:spcAft>
              <a:buSzPct val="100000"/>
              <a:buChar char="–"/>
            </a:pPr>
            <a:r>
              <a:rPr lang="en-US" sz="1100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Giới hạn chống lạm dụng: tối đa 20 lần xuất/giờ/tài khoản - vượt quá bị tạm khóa + ghi audit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1645920"/>
            <a:ext cx="53949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2323744661354536e+50" dist="3.5210699032441527e+49" dir="1.9591041024000004e+59">
              <a:srgbClr val="000000">
                <a:alpha val="2.9999999999999996e+59"/>
              </a:srgbClr>
            </a:outerShdw>
          </a:effectLst>
        </p:spPr>
      </p:sp>
      <p:pic>
        <p:nvPicPr>
          <p:cNvPr id="10" name="Image 0" descr="docs/user-guide/images/19-pla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3200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517550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Kế hoạch tháng với AI gợi ý</a:t>
            </a:r>
            <a:endParaRPr lang="en-US" sz="100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GVCN - KÝ DUYỆT SỔ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Nộp sổ chủ nhiệm cho BGH ký duyệt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32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BGH mở 'đợt ký' → sổ lớp mình chuyển 'Chờ GVCN nộp' → Nộp sổ (hoặc Nộp tất cả)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BGH từ chối (bắt buộc lý do) → sổ về 'Bị từ chối' → sửa rồi Nộp lại - có thông báo 2 chiều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BGH ký xong → 'Đã ký' - sổ khóa, chỉ BGH mở lại; mọi chuyển trạng thái ghi audit log</a:t>
            </a:r>
            <a:endParaRPr lang="en-US" sz="12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5">
    <p:bg>
      <p:bgPr>
        <a:solidFill>
          <a:srgbClr val="1E293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88952" cy="109728"/>
          </a:xfrm>
          <a:prstGeom prst="rect">
            <a:avLst/>
          </a:prstGeom>
          <a:solidFill>
            <a:srgbClr val="14B8A6"/>
          </a:solidFill>
          <a:ln/>
        </p:spPr>
      </p:sp>
      <p:sp>
        <p:nvSpPr>
          <p:cNvPr id="3" name="Shape 1"/>
          <p:cNvSpPr/>
          <p:nvPr/>
        </p:nvSpPr>
        <p:spPr>
          <a:xfrm>
            <a:off x="9509760" y="5120640"/>
            <a:ext cx="2679192" cy="1737360"/>
          </a:xfrm>
          <a:prstGeom prst="rect">
            <a:avLst/>
          </a:prstGeom>
          <a:solidFill>
            <a:srgbClr val="134E4A"/>
          </a:solidFill>
          <a:ln/>
        </p:spPr>
      </p:sp>
      <p:sp>
        <p:nvSpPr>
          <p:cNvPr id="4" name="Text 2"/>
          <p:cNvSpPr/>
          <p:nvPr/>
        </p:nvSpPr>
        <p:spPr>
          <a:xfrm>
            <a:off x="731520" y="1737360"/>
            <a:ext cx="36576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4B8A6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VAI TRÒ KHÁC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1520" y="2286000"/>
            <a:ext cx="1069848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000" b="1" dirty="0">
                <a:solidFill>
                  <a:srgbClr val="FFFFFF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GVBM - Tổ trưởng - BGH - Kế toán - Sở - PH - HS</a:t>
            </a:r>
            <a:endParaRPr lang="en-US" sz="4000" dirty="0"/>
          </a:p>
        </p:txBody>
      </p:sp>
      <p:sp>
        <p:nvSpPr>
          <p:cNvPr id="6" name="Text 4"/>
          <p:cNvSpPr/>
          <p:nvPr/>
        </p:nvSpPr>
        <p:spPr>
          <a:xfrm>
            <a:off x="731520" y="3886200"/>
            <a:ext cx="96012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Mỗi vai trò một màn hình riêng, quyền tính trên server - không lách qua UI</a:t>
            </a:r>
            <a:endParaRPr lang="en-US" sz="1400" dirty="0"/>
          </a:p>
        </p:txBody>
      </p:sp>
    </p:spTree>
  </p:cSld>
  <p:clrMapOvr>
    <a:masterClrMapping/>
  </p:clrMapOvr>
  <p:transition xmlns:p="http://schemas.openxmlformats.org/presentationml/2006/main" spd="fast" advClick="1">
    <p:push dir="l"/>
  </p:transition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GIÁO VIÊN BỘ MÔN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Ngày làm việc của GVBM (minhtv@nd.scn)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33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Lịch cá nhân: TKB mặc định hiện toàn bộ tiết mình dạy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Sổ điểm: chỉ nhập lớp/môn được phân công trong TKB - không ghi được lớp người khác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Sổ đầu bài: chỉ mở form ghi ở tiết mình dạy, tiết GV khác chỉ đọc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Giáo án: soạn → nộp tổ trưởng; bị trả về → sửa theo nhận xét → nộp lại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Chat với GVCN gắn học sinh cụ thể; xem lịch coi thi/thi lớp mình dạy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1645920"/>
            <a:ext cx="53949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5651155719920262e+54" dist="4.471758777120074e+53" dir="1.1754624614400003e+64">
              <a:srgbClr val="000000">
                <a:alpha val="2.9999999999999996e+64"/>
              </a:srgbClr>
            </a:outerShdw>
          </a:effectLst>
        </p:spPr>
      </p:sp>
      <p:pic>
        <p:nvPicPr>
          <p:cNvPr id="10" name="Image 0" descr="docs/user-guide/images/09-period-log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3200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517550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Sổ đầu bài - chỉ tiết mình dạy mới ghi được</a:t>
            </a:r>
            <a:endParaRPr lang="en-US" sz="100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TỔ TRƯỞNG CHUYÊN MÔN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Duyệt giáo án &amp; sinh hoạt chuyên môn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34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Duyệt giáo án: queue GV trong tổ nộp → 'AI gợi ý nhận xét' → Duyệt / Trả về kèm nhận xét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Duyệt đánh giá năng lực: xét đánh giá tự chấm của GV trong tổ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Sinh hoạt chuyên môn: tạo buổi (chủ đề, ngày, ghi chú) → AI soạn biên bản từ ghi chú nhanh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câu hỏi: filter 'Môn của tổ tôi' - duyệt lớp 1 trước BGH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1645920"/>
            <a:ext cx="53949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1.9876967764298733e+58" dist="5.679133646942494e+57" dir="7.052774768640002e+68">
              <a:srgbClr val="000000">
                <a:alpha val="2.9999999999999995e+69"/>
              </a:srgbClr>
            </a:outerShdw>
          </a:effectLst>
        </p:spPr>
      </p:sp>
      <p:pic>
        <p:nvPicPr>
          <p:cNvPr id="10" name="Image 0" descr="docs/user-guide/images/26-team-lesson-plans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3200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517550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Hàng chờ duyệt giáo án của tổ</a:t>
            </a:r>
            <a:endParaRPr lang="en-US" sz="100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BAN GIÁM HIỆU / PHT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Điều hành trường - phạm vi và quyền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35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cấp trường + Trung tâm phê duyệt + Báo cáo ngày các lớp + Radar cảnh báo sớm (AI đề xuất can thiệp)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Trợ lý điều hành AI: chat hỏi-đáp trên số liệu thật của trường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TKB toàn trường + Import Excel hàng loạt (ô 'Môn|GV|Phòng'); điều động dạy thay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Chỉ BGH: ký duyệt sổ CN, phân công năm học, quản trị tài khoản - PHT KHÔNG có 3 quyền này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PHT giới hạn theo cơ sở (duclm@nd.scn chỉ thấy Cơ sở 2)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1645920"/>
            <a:ext cx="53949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2.524374906065939e+62" dist="7.212499731616968e+61" dir="4.2316648611840007e+73">
              <a:srgbClr val="000000">
                <a:alpha val="2.9999999999999995e+74"/>
              </a:srgbClr>
            </a:outerShdw>
          </a:effectLst>
        </p:spPr>
      </p:sp>
      <p:pic>
        <p:nvPicPr>
          <p:cNvPr id="10" name="Image 0" descr="docs/user-guide/images/23-bgh-rada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3200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517550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Radar cảnh báo sớm toàn trường</a:t>
            </a:r>
            <a:endParaRPr lang="en-US" sz="100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KẾ TOÁN &amp; SỞ GD / UBND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Hành chính - tài chính - giám sát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36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Kế toán: nhân sự, cơ sở vật chất, thiết bị, báo cáo tài chính NQ37 - KHÔNG thấy hồ sơ học tập HS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Khoản thu /finance (nếu trường bật module): khoản thu, đợt thu, thu tiền + biên lai, công nợ, báo cáo thu chi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Sở GD: dashboard các trường + AI bản tin; tạo trường mới; set module default + duyệt tuyển sinh liên trường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Quản trị dữ liệu: kiểm tra toàn vẹn - lớp thiếu GVCN, HS chưa có tổ/PH, liên kết mồ côi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UBND xã: dashboard địa bàn chỉ đọc (theo mô hình chính quyền 2 cấp)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1645920"/>
            <a:ext cx="53949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3.2059561307037426e+66" dist="9.15987465915355e+65" dir="2.5389989167104004e+78">
              <a:srgbClr val="000000">
                <a:alpha val="3e+79"/>
              </a:srgbClr>
            </a:outerShdw>
          </a:effectLst>
        </p:spPr>
      </p:sp>
      <p:pic>
        <p:nvPicPr>
          <p:cNvPr id="10" name="Image 0" descr="docs/user-guide/images/28-dept-dashboar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3200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517550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Dashboard Sở GD&amp;ĐT</a:t>
            </a:r>
            <a:endParaRPr lang="en-US" sz="100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PHỤ HUYNH &amp; HỌC SINH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Cổng thông tin hai chiều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37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566928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 nhiều con: bộ chọn con trên đầu portal - dữ liệu tách đúng từng em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Tin nhắn 2 chiều với GVCN; đặt lịch hẹn chờ xác nhận; đăng ký hoạt động / báo vắng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 xem khoản thu của con (module khoan_thu); nộp hồ sơ tuyển sinh + tra cứu tại /apply - không cần tài khoản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HS: TKB, điểm HK1/HK2/CN, hạnh kiểm, học bạ (/portal/student/hoc-ba), bài tập trực tuyến (/portal/student/bai-thi), sách đang mượn - chỉ đọc, server kiểm quyền sở hữu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Mẹo: Ctrl+K tìm nhanh chức năng/HS; URL chứa ngày - bookmark được; mọi Import có 'Tải template'</a:t>
            </a:r>
            <a:endParaRPr lang="en-US" sz="1250" dirty="0"/>
          </a:p>
        </p:txBody>
      </p:sp>
      <p:sp>
        <p:nvSpPr>
          <p:cNvPr id="9" name="Shape 7"/>
          <p:cNvSpPr/>
          <p:nvPr/>
        </p:nvSpPr>
        <p:spPr>
          <a:xfrm>
            <a:off x="6400800" y="1645920"/>
            <a:ext cx="5394960" cy="3474720"/>
          </a:xfrm>
          <a:prstGeom prst="roundRect">
            <a:avLst>
              <a:gd name="adj" fmla="val 2105"/>
            </a:avLst>
          </a:prstGeom>
          <a:solidFill>
            <a:srgbClr val="FFFFFF"/>
          </a:solidFill>
          <a:ln w="12700">
            <a:solidFill>
              <a:srgbClr val="E2E8F0"/>
            </a:solidFill>
            <a:prstDash val="solid"/>
          </a:ln>
          <a:effectLst>
            <a:outerShdw sx="100000" sy="100000" kx="0" ky="0" algn="bl" rotWithShape="0" blurRad="4.071564285993753e+70" dist="1.1633040817125008e+70" dir="1.5233993500262402e+83">
              <a:srgbClr val="000000">
                <a:alpha val="2.9999999999999995e+84"/>
              </a:srgbClr>
            </a:outerShdw>
          </a:effectLst>
        </p:spPr>
      </p:sp>
      <p:pic>
        <p:nvPicPr>
          <p:cNvPr id="10" name="Image 0" descr="docs/user-guide/images/30-parent-portal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537960" y="1783080"/>
            <a:ext cx="5120640" cy="3200400"/>
          </a:xfrm>
          <a:prstGeom prst="rect">
            <a:avLst/>
          </a:prstGeom>
        </p:spPr>
      </p:pic>
      <p:sp>
        <p:nvSpPr>
          <p:cNvPr id="11" name="Text 8"/>
          <p:cNvSpPr/>
          <p:nvPr/>
        </p:nvSpPr>
        <p:spPr>
          <a:xfrm>
            <a:off x="6400800" y="5175504"/>
            <a:ext cx="5394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475569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Portal phụ huynh</a:t>
            </a:r>
            <a:endParaRPr lang="en-US" sz="100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ĐIỂM NỔI BẬT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Khác biệt so với nền tảng thông thường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38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Bám quy định thật: YCCĐ CTGDPT 2018 chi tiết đến strand; TT22/2021; CV 5512 cho KHBĐ; TT 15/2026 điều lệ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Vai trò kiêm nhiệm đúng thực tế trường VN - tính nhất quán UI/action/RLS, audit tự động menu theo quyền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Ngân hàng trường + duyệt 2 lớp + audit trail - kiểm soát chất lượng đề như trường thật vận hành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Hình học deterministic (không AI ảo) + xuất Word Equation native - in thi thật dùng được ngay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AI provider linh hoạt (Gemini/OpenAI/Anthropic qua env) + sanitizer + fallback rule-based - không chết khi hết quota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Multi-tenant RLS nghiêm + trigger chống leo quyền + DPIA theo Luật 91/2025 - sẵn sàng pilot liên trường</a:t>
            </a:r>
            <a:endParaRPr lang="en-US" sz="13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CHECKLIST TEST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Các kịch bản ưu tiên rà soát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39</a:t>
            </a:r>
            <a:endParaRPr lang="en-US" sz="900" dirty="0"/>
          </a:p>
        </p:txBody>
      </p:sp>
      <p:sp>
        <p:nvSpPr>
          <p:cNvPr id="8" name="Text 6"/>
          <p:cNvSpPr/>
          <p:nvPr/>
        </p:nvSpPr>
        <p:spPr>
          <a:xfrm>
            <a:off x="640080" y="178308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KIÊM NHIỆM: anhptl@nd.scn thấy 3 nhãn vai trò + menu gộp + vào /team/* được; minhtv@nd.scn vào /team/* bị chặn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NỘI DUNG: KHBĐ đúng khung CV 5512 (5 phần a-đ); đề đúng ma trận, thang điểm, đáp án; YCCĐ gán khớp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WORKFLOW: đóng góp → duyệt tổ → duyệt BGH → notification đúng người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PHÂN QUYỀN: PHT chỉ thấy Cơ sở 2; PH chỉ thấy con mình; UBND chỉ đọc; trường A không thấy trường B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ONBOARDING: bootstrap workbook lên trường scratch → verify counts → cleanup về 0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EDGE CASES: câu 'như hình' không hình bị chặn; import sai format báo rõ; câu trùng stem cảnh báo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HỌC BẠ SỐ: anhptl@nd.scn trình quyết định → hainv@nd.scn trả lại/duyệt → khóa qua /register/lock-records; GVCN lớp khác (huynq@nd.scn) mở chi tiết/xuất bị chặn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MODULE FLAGS: tắt lms_lite tại /school/modules → nav mất + /lms redirect + RPC trả module_disabled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TUYỂN SINH: nộp hồ sơ public /apply (không login) → tra cứu /apply/tra-cuu → BGH duyệt tại /school/admissions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LMS: GV giao đề + cửa sổ + thời lượng → HS làm /portal/student/bai-thi → nộp 1 lần → chấm tự động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KHOẢN THU: đợt thu → thu tiền phát biên lai → công nợ giảm; PH thấy khoản thu trên portal</a:t>
            </a:r>
            <a:endParaRPr lang="en-US" sz="13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35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BIẾN ĐỘNG: yêu cầu chuyển/bảo lưu → BGH duyệt → students.status đổi + snapshot lưu lớp cũ</a:t>
            </a:r>
            <a:endParaRPr lang="en-US" sz="13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8016" cy="1645920"/>
          </a:xfrm>
          <a:prstGeom prst="rect">
            <a:avLst/>
          </a:prstGeom>
          <a:solidFill>
            <a:srgbClr val="0F766E"/>
          </a:solidFill>
          <a:ln/>
        </p:spPr>
      </p:sp>
      <p:sp>
        <p:nvSpPr>
          <p:cNvPr id="3" name="Text 1"/>
          <p:cNvSpPr/>
          <p:nvPr/>
        </p:nvSpPr>
        <p:spPr>
          <a:xfrm>
            <a:off x="502920" y="256032"/>
            <a:ext cx="10972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766E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TÀI LIỆU KÈM THEO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502920" y="502920"/>
            <a:ext cx="1115568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Bộ hồ sơ đầy đủ trong docs/user-guide/</a:t>
            </a:r>
            <a:endParaRPr lang="en-US" sz="2600" dirty="0"/>
          </a:p>
        </p:txBody>
      </p:sp>
      <p:sp>
        <p:nvSpPr>
          <p:cNvPr id="5" name="Shape 3"/>
          <p:cNvSpPr/>
          <p:nvPr/>
        </p:nvSpPr>
        <p:spPr>
          <a:xfrm>
            <a:off x="502920" y="1572768"/>
            <a:ext cx="11155680" cy="0"/>
          </a:xfrm>
          <a:prstGeom prst="line">
            <a:avLst/>
          </a:prstGeom>
          <a:noFill/>
          <a:ln w="12700">
            <a:solidFill>
              <a:srgbClr val="E2E8F0"/>
            </a:solidFill>
            <a:prstDash val="solid"/>
          </a:ln>
        </p:spPr>
      </p:sp>
      <p:sp>
        <p:nvSpPr>
          <p:cNvPr id="6" name="Text 4"/>
          <p:cNvSpPr/>
          <p:nvPr/>
        </p:nvSpPr>
        <p:spPr>
          <a:xfrm>
            <a:off x="502920" y="6528816"/>
            <a:ext cx="4572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VieSchool - Sổ Chủ Nhiệm Số</a:t>
            </a:r>
            <a:endParaRPr lang="en-US" sz="900" dirty="0"/>
          </a:p>
        </p:txBody>
      </p:sp>
      <p:sp>
        <p:nvSpPr>
          <p:cNvPr id="7" name="Text 5"/>
          <p:cNvSpPr/>
          <p:nvPr/>
        </p:nvSpPr>
        <p:spPr>
          <a:xfrm>
            <a:off x="11338560" y="6528816"/>
            <a:ext cx="457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94A3B8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40</a:t>
            </a:r>
            <a:endParaRPr lang="en-US" sz="900" dirty="0"/>
          </a:p>
        </p:txBody>
      </p:sp>
      <p:graphicFrame>
        <p:nvGraphicFramePr>
          <p:cNvPr id="4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40080" y="1783080"/>
          <a:ext cx="10972800" cy="914400"/>
        </p:xfrm>
        <a:graphic>
          <a:graphicData uri="http://schemas.openxmlformats.org/drawingml/2006/table">
            <a:tbl>
              <a:tblPr/>
              <a:tblGrid>
                <a:gridCol w="5486400"/>
                <a:gridCol w="5486400"/>
              </a:tblGrid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Tài liệu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50" b="1" dirty="0">
                          <a:solidFill>
                            <a:srgbClr val="FFFFFF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Nội dung</a:t>
                      </a:r>
                      <a:endParaRPr lang="en-US" sz="115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F766E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HUONG-DAN-SU-DUNG.md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Thao tác chi tiết theo từng vai trò (kèm kiêm nhiệm), 31 ảnh màn hình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KHOI-TAO-TRUONG-MOI.md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Đưa trường mới lên từ con số 0 - giao diện hoặc import hàng loạt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khoi-tao-truong.xlsx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Workbook mẫu 8 sheet để khởi tạo trường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KICH-BAN-DEMO.md / .pptx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Kịch bản demo 15/10 theo luồng vai trò - tài khoản, đường đi, kết quả kỳ vọng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MO-TA-CHUC-NANG.md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Mô tả chi tiết module, ma trận vai trò, luồng nghiệp vụ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SO-CHU-NHIEM-SO-TAI-LIEU.docx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100" dirty="0">
                          <a:solidFill>
                            <a:srgbClr val="0F172A"/>
                          </a:solidFill>
                          <a:latin typeface="Segoe UI" pitchFamily="34" charset="0"/>
                          <a:ea typeface="Segoe UI" pitchFamily="34" charset="-122"/>
                          <a:cs typeface="Segoe UI" pitchFamily="34" charset="-120"/>
                        </a:rPr>
                        <a:t>Bản Word gộp - in/phát hành nội bộ</a:t>
                      </a:r>
                      <a:endParaRPr lang="en-US" sz="1100" dirty="0">
                        <a:latin typeface="Segoe UI" charset="0"/>
                        <a:ea typeface="Segoe UI" charset="0"/>
                        <a:cs typeface="Segoe UI" charset="0"/>
                      </a:endParaRPr>
                    </a:p>
                  </a:txBody>
                  <a:tcPr marL="73152" marR="73152" marT="73152" marB="73152" anchor="ctr">
                    <a:lnL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2E8F0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AFC"/>
                    </a:solidFill>
                  </a:tcPr>
                </a:tc>
              </a:tr>
            </a:tbl>
          </a:graphicData>
        </a:graphic>
      </p:graphicFrame>
      <p:sp>
        <p:nvSpPr>
          <p:cNvPr id="9" name="Text 6"/>
          <p:cNvSpPr/>
          <p:nvPr/>
        </p:nvSpPr>
        <p:spPr>
          <a:xfrm>
            <a:off x="640080" y="4572000"/>
            <a:ext cx="10972800" cy="4572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Deck này là bản duy nhất gộp hướng dẫn + giới thiệu (thay thế SO-CHU-NHIEM-SO-GIOI-THIEU.pptx cũ)</a:t>
            </a:r>
            <a:endParaRPr lang="en-US" sz="1250" dirty="0"/>
          </a:p>
          <a:p>
            <a:pPr marL="177800" indent="-177800">
              <a:spcAft>
                <a:spcPts val="800"/>
              </a:spcAft>
              <a:buSzPct val="100000"/>
              <a:buChar char="•"/>
            </a:pPr>
            <a:r>
              <a:rPr lang="en-US" sz="1250" dirty="0">
                <a:solidFill>
                  <a:srgbClr val="0F172A"/>
                </a:solidFill>
                <a:latin typeface="Segoe UI" pitchFamily="34" charset="0"/>
                <a:ea typeface="Segoe UI" pitchFamily="34" charset="-122"/>
                <a:cs typeface="Segoe UI" pitchFamily="34" charset="-120"/>
              </a:rPr>
              <a:t>Tái sinh file này: node scripts/gen-user-guide-pptx.mjs; workbook mẫu: gen-init-template.mjs; kịch bản demo: gen-demo-pptx.mjs</a:t>
            </a:r>
            <a:endParaRPr lang="en-US" sz="1250" dirty="0"/>
          </a:p>
        </p:txBody>
      </p:sp>
    </p:spTree>
  </p:cSld>
  <p:clrMapOvr>
    <a:masterClrMapping/>
  </p:clrMapOvr>
  <p:transition xmlns:p="http://schemas.openxmlformats.org/presentationml/2006/main" spd="fast" advClick="1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43</Slides>
  <Notes>43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  <vt:lpstr>Slide 30</vt:lpstr>
      <vt:lpstr>Slide 31</vt:lpstr>
      <vt:lpstr>Slide 32</vt:lpstr>
      <vt:lpstr>Slide 33</vt:lpstr>
      <vt:lpstr>Slide 34</vt:lpstr>
      <vt:lpstr>Slide 35</vt:lpstr>
      <vt:lpstr>Slide 36</vt:lpstr>
      <vt:lpstr>Slide 37</vt:lpstr>
      <vt:lpstr>Slide 38</vt:lpstr>
      <vt:lpstr>Slide 39</vt:lpstr>
      <vt:lpstr>Slide 40</vt:lpstr>
      <vt:lpstr>Slide 41</vt:lpstr>
      <vt:lpstr>Slide 42</vt:lpstr>
      <vt:lpstr>Slide 43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2026-10-28T06:44:32Z</dcterms:created>
  <dcterms:modified xsi:type="dcterms:W3CDTF">2026-10-28T06:44:32Z</dcterms:modified>
</cp:coreProperties>
</file>