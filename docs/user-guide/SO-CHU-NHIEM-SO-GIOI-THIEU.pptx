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SỔ CHỦ NHIỆM SỐ</a:t>
            </a:r>
          </a:p>
          <a:p>
            <a:r>
              <a:rPr sz="2000" b="0">
                <a:solidFill>
                  <a:srgbClr val="DBEAFE"/>
                </a:solidFill>
              </a:rPr>
              <a:t>Nền tảng số hóa công tác chủ nhiệm &amp; quản lý trường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FDBFE"/>
                </a:solidFill>
              </a:rPr>
              <a:t>https://so-chu-nhiem-so-theta.vercel.app - Demo: chọn vai trò, mật khẩu demo1234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Tổng quan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Số hóa toàn bộ sổ chủ nhiệm giấy: điểm danh, sổ đầu bài, sổ điểm, rèn luyện, tư vấn, liên lạc phụ huynh, hoạt động giáo dục, an toàn, thi đua, báo cáo</a:t>
            </a:r>
          </a:p>
          <a:p>
            <a:r>
              <a:rPr sz="1500" b="0">
                <a:solidFill>
                  <a:srgbClr val="1F2937"/>
                </a:solidFill>
              </a:rPr>
              <a:t>- Một dữ liệu nghiệp vụ - đồng bộ nhiều màn hình (vắng tiết học tự cập nhật điểm danh ngày)</a:t>
            </a:r>
          </a:p>
          <a:p>
            <a:r>
              <a:rPr sz="1500" b="0">
                <a:solidFill>
                  <a:srgbClr val="1F2937"/>
                </a:solidFill>
              </a:rPr>
              <a:t>- Phân quyền theo vai trò ở cả UI, route và Row-Level-Security</a:t>
            </a:r>
          </a:p>
          <a:p>
            <a:r>
              <a:rPr sz="1500" b="0">
                <a:solidFill>
                  <a:srgbClr val="1F2937"/>
                </a:solidFill>
              </a:rPr>
              <a:t>- Hỗ trợ Tiểu học / THCS / THPT, nhiều cơ sở (phân hiệu)</a:t>
            </a:r>
          </a:p>
          <a:p>
            <a:r>
              <a:rPr sz="1500" b="0">
                <a:solidFill>
                  <a:srgbClr val="1F2937"/>
                </a:solidFill>
              </a:rPr>
              <a:t>- AI 3 tuyến: LLM cấu hình được - Devin async - rule-based fallback</a:t>
            </a:r>
          </a:p>
          <a:p>
            <a:r>
              <a:rPr sz="1500" b="0">
                <a:solidFill>
                  <a:srgbClr val="1F2937"/>
                </a:solidFill>
              </a:rPr>
              <a:t>- Chuẩn TT22/2021: điểm thành phần hệ số 1-2-3, ĐTBm HK1/HK2/cả năm</a:t>
            </a:r>
          </a:p>
        </p:txBody>
      </p:sp>
      <p:pic>
        <p:nvPicPr>
          <p:cNvPr id="5" name="Picture 4" descr="02-gvc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Dashboard giáo viên chủ nhiệm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11 vai trò - phạm vi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r>
                        <a:rPr sz="1400"/>
                        <a:t>GVCN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Lớp chủ nhiệm + lịch dạy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GVBM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Điểm/sổ đầu bài đúng lớp-môn được phân công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Tổ trưởng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Duyệt giáo án, đánh giá năng lực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Toàn trường: ký sổ, phân công, duyệt, radar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Vận hành trường - không ký sổ/phân công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Kế toán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Nhân sự, CSVC, NQ37 - không xem hồ sơ HS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Sở GD&amp;ĐT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Tổng hợp nhiều trường, quản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Phòng GD/UBND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Dashboard địa bàn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Phụ huynh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 mình (nhiều con): tin nhắn, lịch hẹn, đăng ký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Học sinh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TKB, điểm, hạnh kiểu của mình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Chuyên cần - điểm danh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- 4 trạng thái/em: Có mặt, Vắng CP, Vắng KP, Đi muộn + ghi chú lý do ngay trên dòng</a:t>
            </a:r>
          </a:p>
          <a:p>
            <a:r>
              <a:rPr sz="1500" b="0">
                <a:solidFill>
                  <a:srgbClr val="1F2937"/>
                </a:solidFill>
              </a:rPr>
              <a:t>- Chọn ngày bất kỳ để xem lại / sửa điểm danh ngày cũ</a:t>
            </a:r>
          </a:p>
          <a:p>
            <a:r>
              <a:rPr sz="1500" b="0">
                <a:solidFill>
                  <a:srgbClr val="1F2937"/>
                </a:solidFill>
              </a:rPr>
              <a:t>- Sổ vắng-muộn và lịch sử theo khoảng ngày (from - to)</a:t>
            </a:r>
          </a:p>
          <a:p>
            <a:r>
              <a:rPr sz="1500" b="0">
                <a:solidFill>
                  <a:srgbClr val="1F2937"/>
                </a:solidFill>
              </a:rPr>
              <a:t>- Ma trận HS x ngày phát hiện vắng liên tục</a:t>
            </a:r>
          </a:p>
          <a:p>
            <a:r>
              <a:rPr sz="1500" b="0">
                <a:solidFill>
                  <a:srgbClr val="1F2937"/>
                </a:solidFill>
              </a:rPr>
              <a:t>- Thông báo phụ huynh tự động (email + in-app)</a:t>
            </a:r>
          </a:p>
          <a:p>
            <a:r>
              <a:rPr sz="1500" b="0">
                <a:solidFill>
                  <a:srgbClr val="1F2937"/>
                </a:solidFill>
              </a:rPr>
              <a:t>- Đồng bộ 2 chiều với sổ đầu bài tiết học</a:t>
            </a:r>
          </a:p>
        </p:txBody>
      </p:sp>
      <p:pic>
        <p:nvPicPr>
          <p:cNvPr id="5" name="Picture 4" descr="03-attendanc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Điểm danh hàng ngày - 6 thẻ tổng + ghi chú vắng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Sổ điểm giáo viên - chuẩn TT22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Cột điểm động: Miệng / 15 phút / 1 tiết (hệ số 1), Giữa kỳ (x2), Cuối kỳ (x3)</a:t>
            </a:r>
          </a:p>
          <a:p>
            <a:r>
              <a:rPr sz="1500" b="0">
                <a:solidFill>
                  <a:srgbClr val="1F2937"/>
                </a:solidFill>
              </a:rPr>
              <a:t>- Thêm/xóa cột tự do - mỗi GV tự cấu trúc sổ điểm của mình</a:t>
            </a:r>
          </a:p>
          <a:p>
            <a:r>
              <a:rPr sz="1500" b="0">
                <a:solidFill>
                  <a:srgbClr val="1F2937"/>
                </a:solidFill>
              </a:rPr>
              <a:t>- GV chỉ ghi điểm lớp + môn mình được phân công (RLS kiểm tra ở DB)</a:t>
            </a:r>
          </a:p>
          <a:p>
            <a:r>
              <a:rPr sz="1500" b="0">
                <a:solidFill>
                  <a:srgbClr val="1F2937"/>
                </a:solidFill>
              </a:rPr>
              <a:t>- Lưu điểm nguyên tử qua transaction - không mất dữ liệu khi lỗi giữa chừng</a:t>
            </a:r>
          </a:p>
          <a:p>
            <a:r>
              <a:rPr sz="1500" b="0">
                <a:solidFill>
                  <a:srgbClr val="1F2937"/>
                </a:solidFill>
              </a:rPr>
              <a:t>- ĐTBm tự tính đúng hệ số TT22, hiển thị HK1 / HK2 / cả năm</a:t>
            </a:r>
          </a:p>
          <a:p>
            <a:r>
              <a:rPr sz="1500" b="0">
                <a:solidFill>
                  <a:srgbClr val="1F2937"/>
                </a:solidFill>
              </a:rPr>
              <a:t>- Import/export Excel, tải template mẫu; môn nhận xét hiển thị Đạt / Chưa đạt</a:t>
            </a:r>
          </a:p>
        </p:txBody>
      </p:sp>
      <p:pic>
        <p:nvPicPr>
          <p:cNvPr id="5" name="Picture 4" descr="07-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Sổ điểm cột động theo Thông tư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Thời khóa biểu &amp; Sổ đầu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- 2 chế độ: lịch cá nhân (mọi GV) + theo lớp (GVCN xem lớp CN, BGH toàn trường)</a:t>
            </a:r>
          </a:p>
          <a:p>
            <a:r>
              <a:rPr sz="1500" b="0">
                <a:solidFill>
                  <a:srgbClr val="1F2937"/>
                </a:solidFill>
              </a:rPr>
              <a:t>- Ô tiết cá nhân: lớp - môn - phòng; slot xung đột hiển thị đủ và cảnh báo</a:t>
            </a:r>
          </a:p>
          <a:p>
            <a:r>
              <a:rPr sz="1500" b="0">
                <a:solidFill>
                  <a:srgbClr val="1F2937"/>
                </a:solidFill>
              </a:rPr>
              <a:t>- Sổ đầu bài: chỉ GV được phân công tiết đó mới ghi - tiết người khác chỉ đọc</a:t>
            </a:r>
          </a:p>
          <a:p>
            <a:r>
              <a:rPr sz="1500" b="0">
                <a:solidFill>
                  <a:srgbClr val="1F2937"/>
                </a:solidFill>
              </a:rPr>
              <a:t>- Điểm danh theo tiết đồng bộ sang chuyên cần ngày</a:t>
            </a:r>
          </a:p>
          <a:p>
            <a:r>
              <a:rPr sz="1500" b="0">
                <a:solidFill>
                  <a:srgbClr val="1F2937"/>
                </a:solidFill>
              </a:rPr>
              <a:t>- Cộng/trừ điểm rèn luyện ngay trong sổ đầu bài</a:t>
            </a:r>
          </a:p>
          <a:p>
            <a:r>
              <a:rPr sz="1500" b="0">
                <a:solidFill>
                  <a:srgbClr val="1F2937"/>
                </a:solidFill>
              </a:rPr>
              <a:t>- BGH import TKB hàng loạt từ Excel</a:t>
            </a:r>
          </a:p>
        </p:txBody>
      </p:sp>
      <p:pic>
        <p:nvPicPr>
          <p:cNvPr id="5" name="Picture 4" descr="08-timetable-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Lịch dạy cá nhân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Sơ đồ lớp &amp; hồ sơ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Sơ đồ chỗ ngồi kéo-thả, thêm/bớt hàng cột linh hoạt</a:t>
            </a:r>
          </a:p>
          <a:p>
            <a:r>
              <a:rPr sz="1500" b="0">
                <a:solidFill>
                  <a:srgbClr val="1F2937"/>
                </a:solidFill>
              </a:rPr>
              <a:t>- Import danh sách HS Excel (mã HS quốc gia, dân tộc, hoàn cảnh)</a:t>
            </a:r>
          </a:p>
          <a:p>
            <a:r>
              <a:rPr sz="1500" b="0">
                <a:solidFill>
                  <a:srgbClr val="1F2937"/>
                </a:solidFill>
              </a:rPr>
              <a:t>- Chia tổ, ban cán sự, liên kết phụ huynh ngay trên danh sách</a:t>
            </a:r>
          </a:p>
          <a:p>
            <a:r>
              <a:rPr sz="1500" b="0">
                <a:solidFill>
                  <a:srgbClr val="1F2937"/>
                </a:solidFill>
              </a:rPr>
              <a:t>- Hồ sơ từng em: định danh, gia đình, sức khỏe - audit mọi thay đổi</a:t>
            </a:r>
          </a:p>
          <a:p>
            <a:r>
              <a:rPr sz="1500" b="0">
                <a:solidFill>
                  <a:srgbClr val="1F2937"/>
                </a:solidFill>
              </a:rPr>
              <a:t>- AI tổng hợp báo cáo hồ sơ lớp</a:t>
            </a:r>
          </a:p>
        </p:txBody>
      </p:sp>
      <p:pic>
        <p:nvPicPr>
          <p:cNvPr id="5" name="Picture 4" descr="11-s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Sơ đồ chỗ ngồi - resize hàng/cột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Rèn luyện - Tư vấn -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Sổ rèn luyện: cộng/trừ điểm theo tiêu chí, nguồn từ sổ đầu bài / sự cố</a:t>
            </a:r>
          </a:p>
          <a:p>
            <a:r>
              <a:rPr sz="1500" b="0">
                <a:solidFill>
                  <a:srgbClr val="1F2937"/>
                </a:solidFill>
              </a:rPr>
              <a:t>- Tư vấn học sinh: hồ sơ phiên tư vấn, phân loại, theo dõi tiến triển</a:t>
            </a:r>
          </a:p>
          <a:p>
            <a:r>
              <a:rPr sz="1500" b="0">
                <a:solidFill>
                  <a:srgbClr val="1F2937"/>
                </a:solidFill>
              </a:rPr>
              <a:t>- Sự cố an toàn: 6 loại, 4 mức độ, báo cáo lên BGH, audit đầy đủ</a:t>
            </a:r>
          </a:p>
          <a:p>
            <a:r>
              <a:rPr sz="1500" b="0">
                <a:solidFill>
                  <a:srgbClr val="1F2937"/>
                </a:solidFill>
              </a:rPr>
              <a:t>- Thi đua tuần: chấm tiêu chí xếp hạng lớp</a:t>
            </a:r>
          </a:p>
          <a:p>
            <a:r>
              <a:rPr sz="1500" b="0">
                <a:solidFill>
                  <a:srgbClr val="1F2937"/>
                </a:solidFill>
              </a:rPr>
              <a:t>- AI đề xuất can thiệp theo hồ sơ</a:t>
            </a:r>
          </a:p>
        </p:txBody>
      </p:sp>
      <p:pic>
        <p:nvPicPr>
          <p:cNvPr id="5" name="Picture 4" descr="15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Sổ sự cố an toàn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BGH - điều hành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Trung tâm phê duyệt: kế hoạch HĐ, giáo án, đánh giá - một nơi xử lý</a:t>
            </a:r>
          </a:p>
          <a:p>
            <a:r>
              <a:rPr sz="1500" b="0">
                <a:solidFill>
                  <a:srgbClr val="1F2937"/>
                </a:solidFill>
              </a:rPr>
              <a:t>- Radar cảnh báo sớm: lớp/HS rủi ro theo chuyên cần + điểm + sự cố</a:t>
            </a:r>
          </a:p>
          <a:p>
            <a:r>
              <a:rPr sz="1500" b="0">
                <a:solidFill>
                  <a:srgbClr val="1F2937"/>
                </a:solidFill>
              </a:rPr>
              <a:t>- Soạn + import TKB toàn trường, xem theo lớp</a:t>
            </a:r>
          </a:p>
          <a:p>
            <a:r>
              <a:rPr sz="1500" b="0">
                <a:solidFill>
                  <a:srgbClr val="1F2937"/>
                </a:solidFill>
              </a:rPr>
              <a:t>- Ký sổ chủ nhiệm: tạo đợt ký - duyệt/từ chối kèm lý do - ký hàng loạt; GVCN không tự ký</a:t>
            </a:r>
          </a:p>
          <a:p>
            <a:r>
              <a:rPr sz="1500" b="0">
                <a:solidFill>
                  <a:srgbClr val="1F2937"/>
                </a:solidFill>
              </a:rPr>
              <a:t>- Chỉ BGH phân công GVCN &amp; lớp năm học</a:t>
            </a:r>
          </a:p>
          <a:p>
            <a:r>
              <a:rPr sz="1500" b="0">
                <a:solidFill>
                  <a:srgbClr val="1F2937"/>
                </a:solidFill>
              </a:rPr>
              <a:t>- Trợ lý AI điều hành hỏi-đáp trên dữ liệu thật</a:t>
            </a:r>
          </a:p>
        </p:txBody>
      </p:sp>
      <p:pic>
        <p:nvPicPr>
          <p:cNvPr id="5" name="Picture 4" descr="23-bgh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Radar cảnh báo sớm toàn trường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Phụ huynh &amp;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Phụ huynh nhiều con: bộ chọn con trên đầu portal, dữ liệu tách theo từng em</a:t>
            </a:r>
          </a:p>
          <a:p>
            <a:r>
              <a:rPr sz="1500" b="0">
                <a:solidFill>
                  <a:srgbClr val="1F2937"/>
                </a:solidFill>
              </a:rPr>
              <a:t>- Nhắn tin 2 chiều với GVCN: soạn mới + trả lời, thấy cả tin đã gửi</a:t>
            </a:r>
          </a:p>
          <a:p>
            <a:r>
              <a:rPr sz="1500" b="0">
                <a:solidFill>
                  <a:srgbClr val="1F2937"/>
                </a:solidFill>
              </a:rPr>
              <a:t>- Đặt lịch hẹn trực tuyến - GVCN xác nhận</a:t>
            </a:r>
          </a:p>
          <a:p>
            <a:r>
              <a:rPr sz="1500" b="0">
                <a:solidFill>
                  <a:srgbClr val="1F2937"/>
                </a:solidFill>
              </a:rPr>
              <a:t>- Đăng ký / báo vắng hoạt động giáo dục cho con</a:t>
            </a:r>
          </a:p>
          <a:p>
            <a:r>
              <a:rPr sz="1500" b="0">
                <a:solidFill>
                  <a:srgbClr val="1F2937"/>
                </a:solidFill>
              </a:rPr>
              <a:t>- Học sinh: TKB, điểm số, hạnh kiểu, thông báo</a:t>
            </a:r>
          </a:p>
          <a:p>
            <a:r>
              <a:rPr sz="1500" b="0">
                <a:solidFill>
                  <a:srgbClr val="1F2937"/>
                </a:solidFill>
              </a:rPr>
              <a:t>- Mọi thao tác kiểm tra quyền sở hữu con ở server - không ghi được hồ sơ em khác</a:t>
            </a:r>
          </a:p>
        </p:txBody>
      </p:sp>
      <p:pic>
        <p:nvPicPr>
          <p:cNvPr id="5" name="Picture 4" descr="30-parent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Portal phụ huynh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AI hỗ trợ - 3 tuyến dự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dirty="0">
                <a:solidFill>
                  <a:srgbClr val="1F2937"/>
                </a:solidFill>
              </a:rPr>
              <a:t>- </a:t>
            </a:r>
            <a:r>
              <a:rPr sz="1500" b="0" dirty="0" err="1">
                <a:solidFill>
                  <a:srgbClr val="1F2937"/>
                </a:solidFill>
              </a:rPr>
              <a:t>Ứng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dụng</a:t>
            </a:r>
            <a:r>
              <a:rPr sz="1500" b="0" dirty="0">
                <a:solidFill>
                  <a:srgbClr val="1F2937"/>
                </a:solidFill>
              </a:rPr>
              <a:t>: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hồ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sơ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lớp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nhận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xét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giáo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án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gợi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ý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cảnh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trợ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lý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điều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hành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phân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tích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sổ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đầu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bài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biên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bản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sinh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hoạt</a:t>
            </a:r>
            <a:r>
              <a:rPr sz="1500" b="0" dirty="0">
                <a:solidFill>
                  <a:srgbClr val="1F2937"/>
                </a:solidFill>
              </a:rPr>
              <a:t>, </a:t>
            </a:r>
            <a:r>
              <a:rPr sz="1500" b="0" dirty="0" err="1">
                <a:solidFill>
                  <a:srgbClr val="1F2937"/>
                </a:solidFill>
              </a:rPr>
              <a:t>báo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cáo</a:t>
            </a:r>
            <a:r>
              <a:rPr sz="1500" b="0" dirty="0">
                <a:solidFill>
                  <a:srgbClr val="1F2937"/>
                </a:solidFill>
              </a:rPr>
              <a:t> </a:t>
            </a:r>
            <a:r>
              <a:rPr sz="1500" b="0" dirty="0" err="1">
                <a:solidFill>
                  <a:srgbClr val="1F2937"/>
                </a:solidFill>
              </a:rPr>
              <a:t>Sở</a:t>
            </a:r>
            <a:endParaRPr sz="1500" b="0" dirty="0">
              <a:solidFill>
                <a:srgbClr val="1F2937"/>
              </a:solidFill>
            </a:endParaRPr>
          </a:p>
        </p:txBody>
      </p:sp>
      <p:pic>
        <p:nvPicPr>
          <p:cNvPr id="5" name="Picture 4" descr="25-bgh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Trợ lý AI điều hành của BGH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4ED8"/>
                </a:solidFill>
              </a:rPr>
              <a:t>Báo cáo &amp; bảo mật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937"/>
                </a:solidFill>
              </a:rPr>
              <a:t>- Xuất sổ chủ nhiệm, báo cáo Sở/Phòng (CSV/Excel), sổ cá nhân GV</a:t>
            </a:r>
          </a:p>
          <a:p>
            <a:r>
              <a:rPr sz="1500" b="0">
                <a:solidFill>
                  <a:srgbClr val="1F2937"/>
                </a:solidFill>
              </a:rPr>
              <a:t>- RBAC 3 tầng: UI - route guard - Postgres RLS theo vai trò + quan hệ (lớp CN, tiết dạy, con mình)</a:t>
            </a:r>
          </a:p>
          <a:p>
            <a:r>
              <a:rPr sz="1500" b="0">
                <a:solidFill>
                  <a:srgbClr val="1F2937"/>
                </a:solidFill>
              </a:rPr>
              <a:t>- Audit log mọi hành động quan trọng, trang xem cho BGH</a:t>
            </a:r>
          </a:p>
          <a:p>
            <a:r>
              <a:rPr sz="1500" b="0">
                <a:solidFill>
                  <a:srgbClr val="1F2937"/>
                </a:solidFill>
              </a:rPr>
              <a:t>- Trang Thông báo chung cho mọi vai trò - chuông trên topbar, đánh dấu đã đọc, link nhảy tới màn hình liên quan</a:t>
            </a:r>
          </a:p>
          <a:p>
            <a:r>
              <a:rPr sz="1500" b="0">
                <a:solidFill>
                  <a:srgbClr val="1F2937"/>
                </a:solidFill>
              </a:rPr>
              <a:t>- Responsive mobile, sắp xếp tên theo quy tắc Việt Nam</a:t>
            </a:r>
          </a:p>
        </p:txBody>
      </p:sp>
      <p:pic>
        <p:nvPicPr>
          <p:cNvPr id="5" name="Picture 4" descr="20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</a:rPr>
              <a:t>Xuất sổ &amp; báo cáo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Bắt đầu sử dụng</a:t>
            </a:r>
          </a:p>
          <a:p>
            <a:r>
              <a:rPr sz="2000" b="0">
                <a:solidFill>
                  <a:srgbClr val="93C5FD"/>
                </a:solidFill>
              </a:rPr>
              <a:t>https://so-chu-nhiem-so-theta.vercel.app</a:t>
            </a:r>
          </a:p>
          <a:p>
            <a:r>
              <a:rPr sz="1600" b="0">
                <a:solidFill>
                  <a:srgbClr val="D1D5DB"/>
                </a:solidFill>
              </a:rPr>
              <a:t>Chọn vai trò demo tại màn hình đăng nhập - mật khẩu: demo1234</a:t>
            </a:r>
          </a:p>
          <a:p>
            <a:r>
              <a:rPr sz="1400" b="0">
                <a:solidFill>
                  <a:srgbClr val="9CA3AF"/>
                </a:solidFill>
              </a:rPr>
              <a:t>Tài liệu đầy đủ: docs/user-guide/SO-CHU-NHIEM-SO-TAI-LIEU.docx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1234</Words>
  <Application>Microsoft Macintosh PowerPoint</Application>
  <PresentationFormat>Widescreen</PresentationFormat>
  <Paragraphs>100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Le Duy Linh (FHN.TCS)</cp:lastModifiedBy>
  <cp:revision>2</cp:revision>
  <dcterms:created xsi:type="dcterms:W3CDTF">2013-01-27T09:14:16Z</dcterms:created>
  <dcterms:modified xsi:type="dcterms:W3CDTF">2026-09-23T12:17:30Z</dcterms:modified>
  <cp:category/>
</cp:coreProperties>
</file>