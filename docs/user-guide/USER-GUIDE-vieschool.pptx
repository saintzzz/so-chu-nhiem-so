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28016"/>
            <a:ext cx="3410712" cy="6729984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128016"/>
            <a:ext cx="2679192" cy="6729984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27432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CHỦ NHIỆM SỐ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 &amp; Công cụ số Giáo viên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DẪN SỬ DỤNG &amp; GIỚI THIỆU CHỨC NĂNG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Phiên bản: v3.0 - 26/10/2026 (đầy đủ hướng dẫn theo 10 vai trò + hiệu ứng chuyển cảnh)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URL: https://sochunhiem.vieschool.com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Phạm vi: CTGDPT 2018, TT 22/2021, TT 27/2025, CV 5512; bảo mật theo Luật 91/2025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demo: 3 trường thật quy mô, ~1 275 học sinh, ~86 cán bộ, ngân hàng câu hỏi đã dọn trùng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fast" advClick="1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gồm 2 module chính trên một nền tảng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Chủ Nhiệm Số (SCN) - vận hành lớp học &amp; nhà trường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danh, sổ điểm, hạnh kiểm, sổ liên lạc phụ huynh, thời khóa biểu, sự cố an toàn, sơ đồ chỗ ngồi, báo cáo BGH/Sở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 theo vai trò: GVCN, GVBM, Tổ trưởng, PHT, BGH, Kế toán, Sở GD&amp;ĐT, UBND, Phụ huynh, Học sinh, Admin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TVC360 Studio - công cụ soạn thảo giáo viên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KHBĐ theo CV 5512 (DC-01), ma trận đề (DC-02), đề kiểm tra theo ma trận (DC-03), bộ câu hỏi (DC-04), phiếu học tập (DC-05), bài trình chiếu PPTX (DC-06)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 chung của trường gắn YCCĐ, duyệt 2 lớp, xuất DOCX/PDF/PPTX, LaTeX/KaTeX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theo trường (multi-tenant): mọi bảng scope school_id + RLS nghiêm ngặt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kiêm nhiệm (multi-role): một cán bộ giữ nhiều vai trò - menu và quyền gộp từ toàn bộ vai trò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Thiết kế cho quy mô: 100 000 user giai đoạn pilot, lộ trình 1 000 000.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Chuyên cần - điểm danh số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trạng thái/em: Có mặt, Vắng CP, Vắng KP, Đi muộn + ghi chú lý do ngay trên dòng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ngày bất kỳ để xem lại / sửa điểm danh ngày cũ; sổ vắng-muộn theo khoảng ngày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Thông báo phụ huynh tự động (in-app + email Resend từ no-reply@vieschool.com)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Đồng bộ 2 chiều với sổ đầu bài tiết học - một ghi nhận, nhiều nơi cập nhật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0" descr="docs/user-guide/images/03-attendance-da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danh hàng ngày - tổng quan + ghi chú vắng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điểm giáo viên - chuẩn TT22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Cột điểm động: Miệng / 15 phút / 1 tiết (hệ số 1), Giữa kỳ (x2), Cuối kỳ (x3)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 chỉ ghi điểm lớp + môn được phân công - bộ chọn môn tự lọc theo phân công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nguyên tử qua transaction; ĐTBm tự tính đúng hệ số, hiển thị HK1 / HK2 / cả năm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Import/export Excel, tải template mẫu; môn nhận xét hiển thị Đạt / Chưa đạt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29030000" dist="322580000" dir="324000000000">
              <a:srgbClr val="000000">
                <a:alpha val="3000000000"/>
              </a:srgbClr>
            </a:outerShdw>
          </a:effectLst>
        </p:spPr>
      </p:sp>
      <p:pic>
        <p:nvPicPr>
          <p:cNvPr id="10" name="Image 0" descr="docs/user-guide/images/07-gr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điểm cột động theo Thông tư 22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khóa biểu &amp; Sổ đầu bài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chế độ: lịch cá nhân (mọi GV) + theo lớp (GVCN xem lớp CN, BGH toàn trường)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đầu bài: chỉ GV được phân công tiết đó mới ghi; điểm danh theo tiết đồng bộ chuyên cần ngày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Cộng/trừ điểm rèn luyện ngay trong sổ đầu bài; BGH import TKB hàng loạt từ Excel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4338681000000" dist="4096766000000" dir="19440000000000000">
              <a:srgbClr val="000000">
                <a:alpha val="300000000000000"/>
              </a:srgbClr>
            </a:outerShdw>
          </a:effectLst>
        </p:spPr>
      </p:sp>
      <p:pic>
        <p:nvPicPr>
          <p:cNvPr id="10" name="Image 0" descr="docs/user-guide/images/08-timetable-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Lịch dạy cá nhân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- điều hành trường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Trung tâm phê duyệt: kế hoạch HĐ, giáo án, đánh giá - một nơi xử lý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Radar cảnh báo sớm: lớp/HS rủi ro theo chuyên cần + điểm + sự cố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Ký sổ chủ nhiệm: tạo đợt ký - duyệt/từ chối kèm lý do - ký hàng loạt; GVCN không tự ký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BGH phân công GVCN &amp; lớp năm học; trợ lý AI điều hành hỏi-đáp trên dữ liệu thật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82101248700000000" dist="52028928200000000" dir="1.1664e+21">
              <a:srgbClr val="000000">
                <a:alpha val="30000000000000000000"/>
              </a:srgbClr>
            </a:outerShdw>
          </a:effectLst>
        </p:spPr>
      </p:sp>
      <p:pic>
        <p:nvPicPr>
          <p:cNvPr id="10" name="Image 0" descr="docs/user-guide/images/23-bgh-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Radar cảnh báo sớm toàn trường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bạ số - quyết định cuối năm TT22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bạ điện tử thay sổ giấy: điểm HK1/HK2/cả năm từng môn, hạnh kiểm, NLPC, chuyên cần buổi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gợi ý xếp loại theo TT22/2021 - override bắt buộc căn cứ pháp lý (Điều 9.3 / sau đánh giá lại / HS khuyết tật / miễn môn)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3 bước: GVCN lưu nháp/trình (anhptl@nd.scn) → BGH duyệt/trả lại kèm lý do (hainv@nd.scn) → khóa qua đợt duyệt sổ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Stages: quyết định đầu năm → sau đánh giá lại / sau rèn luyện hè (theo kết quả lên lớp)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Xuất DOCX/PDF từng HS hoặc cả lớp - watermark 'BẢN NHÁP - CHƯA DUYỆT' khi chưa duyệt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quyền: GVCN chỉ lớp mình; PHT chỉ cơ sở mình; Sở GD/UBND xem chỉ đọc; HS xem học bạ bản thân trên portal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Phụ huynh &amp; Học sinh - cổng hai chiều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 chỉ thấy con mình (nhiều con: bộ chọn trên đầu portal, dữ liệu tách theo từng em)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Nhắn tin 2 chiều với GVCN; đặt lịch hẹn trực tuyến - GVCN xác nhận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Digest email tuần tự động gửi PH; bounce/complaint được webhook Resend ghi nhận, không retry lặp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sinh: TKB, điểm số, hạnh kiểm, thông báo - mọi ghi kiểm tra quyền sở hữu ở server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31268585849e+21" dist="660767388140000000000" dir="6.9984e+25">
              <a:srgbClr val="000000">
                <a:alpha val="3e+24"/>
              </a:srgbClr>
            </a:outerShdw>
          </a:effectLst>
        </p:spPr>
      </p:sp>
      <p:pic>
        <p:nvPicPr>
          <p:cNvPr id="10" name="Image 0" descr="docs/user-guide/images/30-parent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phụ huynh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 TVC360 - soạn học liệu &amp; ngân hàng câu hỏi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công cụ theo môn: DC-01..06 (chung), Toán (T-01/02), Văn (V-01/02), Anh (A-01..03)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chung của trường gắn YCCĐ; đã dọn trùng - mỗi câu gộp đủ chuẩn, không bản lặp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Môn học đúng cấp: Ngữ văn 6-12, Tiếng Việt 1-5, Tiếng Anh 3-12 theo CTGDPT 2018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A-03 sinh hội thoại + bài nghe kèm AUDIO THẬT (giọng neural) phát ngay trong trình duyệt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Hình Toán vẽ SVG tham số (deterministic); LaTeX -&gt; Word Equation native khi xuất DOCX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9371110402823e+25" dist="8.391745829378e+24" dir="4.19904e+30">
              <a:srgbClr val="000000">
                <a:alpha val="3e+29"/>
              </a:srgbClr>
            </a:outerShdw>
          </a:effectLst>
        </p:spPr>
      </p:sp>
      <p:pic>
        <p:nvPicPr>
          <p:cNvPr id="10" name="Image 0" descr="docs/user-guide/images/17-ex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 và sinh đề theo ma trận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trường thật quy mô - đủ mọi tình huống nghiệp vụ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Trường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Cấp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Học sinh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Cán bộ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Đặc điểm demo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THCS Nguyễn Du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THCS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(6A1-9A3)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~435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cơ sở, 4 tổ CM - demo giới hạn PHT theo cơ sở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Tiểu học Chu Văn 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(1A1-5A3)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Đánh giá mức độ TT 22/2021, 4 tổ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Tiểu học Kim Đồng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(1A1-5A2)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~340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tổ, đa trường cùng Sở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3931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trường: đủ BGH/PHT/kế toán/tổ trưởng/GVCN/GVBM phân môn, TKB đầy đủ, điểm, chuyên cần, hạnh kiểm, hoạt động, sự cố, cảnh báo sớm, kế hoạch hỗ trợ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 TVC360: 360 câu/trường gán đúng giáo viên của trường đó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THCS Nguyễn Du có 2 cơ sở - khối A3 thuộc Cơ sở 2 do PHT phụ trách, dùng demo giới hạn phạm vi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KHOẢN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 https://sochunhiem.vieschool.com/login - mật khẩu chung: demo1234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 có Turnstile chống bot (ẩn - không cần thao tác thêm); giới hạn xuất file tối đa 20 lần/giờ/tài khoản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Tài khoản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trò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Dùng để test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hainv@nd.scn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Nguyễn Văn Hải - HT Nguyễn Du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 + gvbm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Quản trị trường, duyệt cuối, Studio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duclm@nd.scn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Lê Minh Đức - PHT cơ sở 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pht + gvbm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 thấy lớp Cơ sở 2, kiêm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hanhlth@nd.scn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Lê Thị Hồng Hạnh - Tổ Toán-TN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to_truong + gvbm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Duyệt lớp tổ, giảng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anhptl@nd.scn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Phạm Thị Lan Anh - GVCN 8A2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gvcn + gvbm + to_truong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vai trò - điểm nhấn kiêm nhiệm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minhtv@nd.scn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Trần Văn Minh - GV Vật lý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gvbm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Đơn vai trò - chứng minh quyền giữ nguyên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trangpt@nd.scn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Phạm Thu Trang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ke_toan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sự, thu chi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annv@nd.scn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Nguyễn Văn 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phu_huynh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 PH - chỉ thấy con (Bảo 8A2)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baong@nd.scn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Nguyễn Gia Bảo - lớp 8A2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hoc_sinh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 HS - TKB, điểm, học bạ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sovqt@demo.scn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Vũ Quản Trị Sở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so_gd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Tạo trường, dashboard 3 trường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daonvl@demo.scn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Ngô Văn Lãnh Đạo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ubnd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địa bàn - chỉ đọc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admin@demo.scn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Quản trị hệ thống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Toàn hệ thống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62362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khác: phuongttm / oanhdtk / lienttb / havt @cva.scn và longhd / ngaltt / anhdn @kd.scn. GV còn lại: tenvt@{nd|cva|kd}.scn (ten + viet tat ho dem).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KIÊM NHIỆM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Đúng thực tế trường Việt Nam - GVCN luôn kiêm dạy, tổ trưởng vẫn đứng lớp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cán bộ = 1 vai trò chính + nhiều vai trò kiêm nhiệm (concurrent roles)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 dụ: GVCN 8A2 đồng thời là GV dạy Toán và Tổ trưởng Toán-Tự nhiên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PHT/Hiệu trưởng vẫn phân công dạy - kiêm GVBM là mặc định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Quyền = hợp của mọi vai trò, tính ở 3 tầng nhất quán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UI: menu gộp + topbar hiện đủ nhãn vai trò; trang Hồ sơ hiện badge từng vai trò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action: checkActionRole nhận role kiêm nhiệm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Database: 158 RLS policies dùng my_roles() - không lách tầng app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toàn: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BGH/admin gán kiêm nhiệm tại /school/users - user tự sửa bị trigger chặn (chống leo quyền)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vai trò nhân sự được kiêm; admin/phụ huynh/học sinh không thể kiêm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Người chỉ có 1 vai trò (gvbm thuần) vẫn bị chặn đúng route như trước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Cài đặt: /school/users → sửa cán bộ → tick 'Vai trò kiêm nhiệm'. Chỉ chức năng được quyền mới hiện trên menu.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 trận tóm tắt - menu chỉ hiện chức năng được cấp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Chức năng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GVBM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GVCN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 trưởng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BGH/Admin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Studio soạn học liệu DC-01..06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Ngân hàng câu hỏi - xem/đóng góp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Duyệt câu hỏi/học liệu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tổ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BGH (cuối)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danh, hạnh kiểm, SLĐ lớp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CN mình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Xem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Cơ sở mình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Nhập điểm môn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mình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mình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mình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Hồ sơ HS toàn trường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Xem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Học bạ số - quyết định cuối năm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Trình (lớp CN)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Xem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Xem cơ sở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Duyệt + xuất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Quản trị user/quyền/ACL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321808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Kiêm nhiệm: quyền = hợp vai trò - GVCN kiêm tổ trưởng được cả 2 cột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PHT giới hạn theo cơ sở (campus); không tiếp cận hồ sơ chi tiết HS (ẩn national_id)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 3 lớp: mặc định theo vai trò → cấu hình theo trường → ghi đè từng cán bộ (/school/users)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2362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Sở GD&amp;ĐT/UBND: giám sát + tạo trường + xem học bạ chỉ đọc, không vào nghiệp vụ lớp. Kiểm chứng tự động: node scripts/check-nav-access.mjs (158 hrefs).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 chủ nhiệm - ngày làm việc điển hình (anhptl@nd.scn)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Topbar hiện 'Giáo viên chủ nhiệm · Giáo viên bộ môn · Tổ trưởng chuyên môn' - menu gộp đủ 3 vai trò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Sáng: Điểm danh (/attendance/daily) - chọn lớp 8A2, tích vắng, lưu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Đồng bộ sổ đầu bài (period log); cảnh báo vắng nhiều ngày; PH nhận thông báo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Trong ngày: sự cố (/safety/report), nhận xét hạnh kiểm (/conduct/records), sổ điểm Toán (/academics/grades)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Liên lạc PH: /parents/compose - soạn + gửi email cho CMHS (Resend)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cấp tài khoản cổng PH tại /register/roster; PH chỉ thấy đúng con mình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Kiêm tổ trưởng: mở /team/lesson-plans duyệt giáo án GV trong tổ - menu 'Tổ chuyên môn' chỉ hiện khi có vai trò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Cuối kỳ: báo cáo chuyên cần, hạnh kiểm TT22 (HK1/HK2/cả năm tách biệt), ký duyệt sổ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 bộ môn - biên soạn trên Studio (/studio)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công cụ DC-01..06 / T-01..02 / V-01..02 / A-01..03 → điền môn/khối/bài → Sinh (AI hoặc fallback rule-based khi hết quota)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Môn tự preselect theo môn phụ trách của GV; công thức LaTeX $...$ render KaTeX, xuất DOCX thành Word Equation native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A-03 (Tiếng Anh): hội thoại + bài nghe kèm audio thật (giọng neural), phát ngay trong trang xem học liệu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Chỉnh sửa trực tiếp → Lưu vào Thư viện của tôi (/studio/library)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Gửi duyệt → tổ trưởng nhận notification → BGH duyệt cuối → published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Xuất: DOCX (đề/KHBĐ/phiếu), PDF (trang in), PPTX (DC-06)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trang con Studio (Thư viện, Ngân hàng, Kho ngữ liệu, YCCĐ, Mẫu KHBĐ) đều có link 'Tất cả công cụ' quay về /studio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sinh có kiểm chứng 2 lớp: prompt ép khung + sanitizer lọc nội dung lạc đề (đáp án/phiếu rời rạc bị cắt).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 DC-01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bài dạy (KHBĐ) - khung Công văn 5512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Môn / Khối / Bài học (chọn YCCĐ) / Số tiết / Mẫu KHBĐ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Mẫu hệ thống theo CV 5512 hoặc mẫu riêng của trường tại /studio/mau-khbd (admin tạo, đặt mặc định)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đúng biểu mẫu: I. Mục tiêu - II. Thiết bị DH - III. Tiến trình - IV. Điều chỉnh + Ký duyệt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hoạt động đủ: a) Mục tiêu, b) Nội dung, c) Tổ chức (bảng 2 cột GV-HS | Nội dung), d) Sản phẩm, đ) Đánh giá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Phụ lục đánh giá theo hoạt động; không còn mục 'ĐÁP ÁN/PHIẾU BÀI TẬP' lạc đề (sanitizer lọc)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Xuất DOCX - in ký duyệt; sửa được trực tiếp trước khi lưu/gửi duyệt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Nếu AI trả sai khung → hệ thống tự loại và dùng bản rule-based đủ cấu trúc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 DC-02 + DC-03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 trận đề và sinh đề kiểm tra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DC-02: chọn môn/khối/đợt KT → ma trận YCCĐ × mức độ (Nhận biết/Hiểu/Vận dụng) đúng tỷ lệ quy định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Đợt giữa kì cho lớp 1-3 cảnh báo TT22 (không bắt buộc KT giấy)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DC-03: chọn ma trận → rút câu từ ngân hàng CỦA TRƯỜNG → đề chính + đề dự phòng + bảng đáp án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 tiên không trùng câu giữa 2 đề; trộn đáp án trắc nghiệm tự động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Ô ma trận thiếu câu → báo THIẾU trung thực, không lấy câu sai YCCĐ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 'Chỉ câu đã duyệt' → chỉ rút câu approved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Cấp tiểu học: tự đổi mẫu - Phần I trắc nghiệm gộp + Phần II tự luận, có chỗ mã phách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Kèm biên bản phản biện đề (chủ tọa/thư ký/ủy viên) đúng quy trình ra đề của trường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 DC-04 / DC-05 / DC-06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câu hỏi, phiếu học tập, bài trình chiếu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Công cụ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Input chính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Output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Xuất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DC-04 Bộ câu hỏi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Môn/khối/YCCĐ/số câu/mức độ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Bộ câu hỏi luyện tập + đáp án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DC-05 Phiếu học tập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Môn/khối/bài + trọng tâm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Phiếu BT có bài tập + hướng dẫn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DC-06 Bài trình chiếu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Môn/khối/YCCĐ/số slide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Slide theo tiến trình KHBĐ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PPTX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2062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Mọi công cụ: lưu thư viện → gửi duyệt → xuất file; AI sinh có kiểm chứng (schema + YCCĐ gate + sanitizer)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chung của trường (/studio/questions)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 cùng trường đóng góp chung; filter: Cả trường / Của tôi / Môn của tổ tôi; phân trang server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Đã dọn trùng toàn bank: gộp theo (câu hỏi, khối, môn, dạng), giữ bản đã duyệt, union đủ YCCĐ - 0 câu lặp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Môn đúng cấp học: Ngữ văn chỉ khối 6-12 (Tiếng Việt 1-5), Tiếng Anh 3-12 - bộ chọn khối theo môn tự lọc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Thêm tay hoặc import ảnh/PDF (AI đọc) hoặc template Excel; validate: đúng qtype, mức độ, YCCĐ, stem tham chiếu hình phải kèm media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Duyệt: từng câu hoặc bulk (tối đa 200 câu/lần); trạng thái: chưa duyệt → đã duyệt / đánh dấu lỗi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Hình trong câu hỏi: upload ảnh HOẶC hình vẽ tham số SVG cho Toán (tam giác, HCN, tròn, góc, đồng hồ) - deterministic, không AI sinh ảnh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Câu nghe Tiếng Anh: transcript ở Ngữ cảnh + nút Nghe thử (TTS trình duyệt)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Mã câu tự sinh dạng &lt;YCCĐ&gt;-&lt;D|F|S|E&gt;&lt;seq&gt; theo quy ước ngành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360 câu/trường; quyền duyệt tính theo role set - tổ trưởng kiêm nhiệm vẫn duyệt được.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DUYỆT 2 LỚP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Tác giả → Tổ trưởng → BGH → published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1 - Tổ trưởng chuyên môn: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hàng: filter 'Môn của tổ tôi' - chỉ thấy môn tổ mình; Thư viện: 'Chờ duyệt - môn của tổ' xếp trên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Duyệt / trả về kèm nhận xét → tác giả nhận notification in-app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2 - BGH/admin: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Thấy tất cả, duyệt cuối → published; mọi thao tác ghi audit trail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kiêm nhiệm áp dụng thật: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kiêm tổ trưởng (như cô Lan Anh) vẫn vào được queue duyệt của tổ mình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Hàm DB (scn_review_material, scn_can_write_grade...) kiểm tra trên tập vai trò - không bypass được qua UI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TRỊ TRƯỜNG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/school/users - BGH/admin của từng trường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Thêm cán bộ: email + mật khẩu + vai trò chính + vai trò kiêm nhiệm (checkbox) + cơ sở + tổ + mã NV + hợp đồng + trình độ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Gán môn phụ trách (chip multi-select → teacher_subjects) - Studio tự preselect môn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 chuyên môn - môn học: gán môn cho tổ; cảnh báo vàng khi GV dạy môn khác tổ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 trận quyền chức năng: 6 chức năng × 6 vai trò × 3 trạng thái (mặc định/cấm/cho) + quyền riêng từng người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 grant xung đột giữa các vai trò kiêm nhiệm → deny thắng (an toàn)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ACL dữ liệu tới item: ẩn một câu hỏi/học liệu cụ thể với một GV - GV khác vẫn thấy (RLS level)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Chống leo quyền: trigger DB chặn user tự sửa vai trò/trường/kiêm nhiệm - chỉ BGH/admin được đổi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KHỞI TẠO TRƯỜNG MỚI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đường - giao diện từng bước HOẶC import Excel hàng loạt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Đường 1 - Giao diện: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Sở GD/admin: /dept/schools → 'Tạo trường' (tự tạo năm học, 2 tổ, bộ môn theo cấp, tài khoản BGH)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BGH: /school/campuses khai cơ sở → /school/departments tổ CM → /school/users thêm cán bộ → tạo lớp → GVCN liên kết PH - HS → import TKB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Đường 2 - Import Excel hàng loạt (khuyến nghị cho trường lớn):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Tải workbook mẫu khoi-tao-truong.xlsx: 8 sheet (cơ sở, tổ, cán bộ, lớp, HS, phụ huynh, TKB + hướng dẫn)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Chạy: node scripts/bootstrap-school.mjs --file &lt;xlsx&gt; --school &lt;MA&gt; --apply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tạo: tài khoản + vai trò kiêm nhiệm + môn dạy + trưởng tổ + lớp + GVCN + HS + PH/tài khoản PH + TKB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lại nhiều lần an toàn (idempotent); có --cleanup dọn về 0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dẫn chi tiết: docs/user-guide/KHOI-TAO-TRUONG-MOI.md + checklist nghiệm thu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5120640"/>
            <a:ext cx="2679192" cy="17373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II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dẫn theo vai trò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 chi tiết từng chức năng - đúng thực tế trường Việt Nam. Ảnh chụp trực tiếp từ hệ thống.</a:t>
            </a:r>
            <a:endParaRPr lang="en-US" sz="1400" dirty="0"/>
          </a:p>
        </p:txBody>
      </p:sp>
    </p:spTree>
  </p:cSld>
  <p:clrMapOvr>
    <a:masterClrMapping/>
  </p:clrMapOvr>
  <p:transition xmlns:p="http://schemas.openxmlformats.org/presentationml/2006/main" spd="fast" advClick="1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HỒ SƠ LỚP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Sơ đồ lớp &amp; danh sách học sinh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Sơ đồ lớp: kéo-thả HS vào ô ghế; +/− Hàng, +/− Cột đổi lưới mà giữ nguyên vị trí đã xếp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sơ đồ tạo phiên bản mới - xem lại 'Lịch sử phiên bản sơ đồ'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Danh sách HS &amp; Tổ: Thêm tổ → Chia đều tổ tự động; gán Ban cán sự bằng dropdown từng dòng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Khu vực Liên kết phụ huynh: tạo tài khoản PH gắn đúng HS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730131021158521e+29" dist="1.0657517203310059e+29" dir="2.519424e+35">
              <a:srgbClr val="000000">
                <a:alpha val="2.9999999999999997e+34"/>
              </a:srgbClr>
            </a:outerShdw>
          </a:effectLst>
        </p:spPr>
      </p:sp>
      <p:pic>
        <p:nvPicPr>
          <p:cNvPr id="10" name="Image 0" descr="docs/user-guide/images/11-se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Sơ đồ chỗ ngồi kéo-thả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RÈN LUYỆN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Nhận xét &amp; vi phạm / khen thưởng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HS → loại (Nhận xét / Khen thưởng / Vi phạm) → ngày, điểm +/−, nội dung → Ghi nhận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Đánh giá &amp; xếp loại: xếp loại hạnh kiểm học kỳ cho cả lớp (HK1/HK2/CN tách biệt theo TT22)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Cộng/trừ điểm rèn luyện cũng ghi được ngay trong sổ đầu bài tiết học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737266396871321e+33" dist="1.3535046848203775e+33" dir="1.5116544e+40">
              <a:srgbClr val="000000">
                <a:alpha val="3e+39"/>
              </a:srgbClr>
            </a:outerShdw>
          </a:effectLst>
        </p:spPr>
      </p:sp>
      <p:pic>
        <p:nvPicPr>
          <p:cNvPr id="10" name="Image 0" descr="docs/user-guide/images/13-con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rèn luyện - nhận xét và điểm +/−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PHỤ HUYNH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Liên lạc &amp; Ban đại diện CMHS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Soạn &amp; gửi thông báo: phạm vi cả lớp / PH từng em - PH nhận in-app + email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Hộp thư phản hồi: đọc/trả lời tin nhắn PH trong cùng hội thoại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Lịch hẹn trao đổi: xác nhận/từ chối lịch PH đề xuất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 đại diện CMHS: thêm thành viên + vai trò Trưởng/Phó/Ủy viên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016328324026578e+37" dist="1.7189509497218795e+37" dir="9.069926400000001e+44">
              <a:srgbClr val="000000">
                <a:alpha val="3e+44"/>
              </a:srgbClr>
            </a:outerShdw>
          </a:effectLst>
        </p:spPr>
      </p:sp>
      <p:pic>
        <p:nvPicPr>
          <p:cNvPr id="10" name="Image 0" descr="docs/user-guide/images/14-parents-com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Soạn thông báo gửi phụ huynh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AN TOÀN &amp; TƯ VẤN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 vấn học sinh &amp; sự cố an toàn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 vấn: Tiếp nhận ca → Đánh giá mức độ (AI gợi ý) → ca Cao chuyển tuyến chuyên gia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Sự cố: ghi nhận loại + mức độ - AI viết lại mô tả → theo dõi xử lý → lưu trữ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Sự cố toàn trường BGH đánh dấu đã báo cáo - một luồng khép kín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.640736971513755e+41" dist="2.183067706146787e+41" dir="5.44195584e+49">
              <a:srgbClr val="000000">
                <a:alpha val="2.9999999999999997e+49"/>
              </a:srgbClr>
            </a:outerShdw>
          </a:effectLst>
        </p:spPr>
      </p:sp>
      <p:pic>
        <p:nvPicPr>
          <p:cNvPr id="10" name="Image 0" descr="docs/user-guide/images/15-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nhận và xử lý sự cố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KỲ THI &amp; KẾ HOẠCH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Kỳ thi, thi đua, kế hoạch tháng, xuất sổ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Kỳ thi: tạo kỳ → thêm buổi thi (tay/Import Excel) → công bố; 'Mở ngân hàng câu hỏi' nhảy sang Studio rút câu vào đề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 đua: chấm điểm tiêu chí lớp mình; bảng xếp hạng toàn trường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tháng / sơ kết tuần: checklist + 'AI gợi ý công việc' đọc lịch năm học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Xuất sổ: CSV toàn bộ dữ liệu sổ chủ nhiệm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Giới hạn chống lạm dụng: tối đa 20 lần xuất/giờ/tài khoản - vượt quá bị tạm khóa + ghi audit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9.703735953822469e+45" dist="2.7724959868064195e+45" dir="3.2651735040000005e+54">
              <a:srgbClr val="000000">
                <a:alpha val="2.9999999999999996e+54"/>
              </a:srgbClr>
            </a:outerShdw>
          </a:effectLst>
        </p:spPr>
      </p:sp>
      <p:pic>
        <p:nvPicPr>
          <p:cNvPr id="10" name="Image 0" descr="docs/user-guide/images/19-pl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tháng với AI gợi ý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KÝ DUYỆT SỔ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Nộp sổ chủ nhiệm cho BGH ký duyệt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mở 'đợt ký' → sổ lớp mình chuyển 'Chờ GVCN nộp' → Nộp sổ (hoặc Nộp tất cả)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từ chối (bắt buộc lý do) → sổ về 'Bị từ chối' → sửa rồi Nộp lại - có thông báo 2 chiều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ký xong → 'Đã ký' - sổ khóa, chỉ BGH mở lại; mọi chuyển trạng thái ghi audit log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5120640"/>
            <a:ext cx="2679192" cy="17373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KHÁC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GVBM - Tổ trưởng - BGH - Kế toán - Sở - PH - HS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vai trò một màn hình riêng, quyền tính trên server - không lách qua UI</a:t>
            </a:r>
            <a:endParaRPr lang="en-US" sz="1400" dirty="0"/>
          </a:p>
        </p:txBody>
      </p:sp>
    </p:spTree>
  </p:cSld>
  <p:clrMapOvr>
    <a:masterClrMapping/>
  </p:clrMapOvr>
  <p:transition xmlns:p="http://schemas.openxmlformats.org/presentationml/2006/main" spd="fast" advClick="1">
    <p:push dir="l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 BỘ MÔN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Ngày làm việc của GVBM (minhtv@nd.scn)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Lịch cá nhân: TKB mặc định hiện toàn bộ tiết mình dạy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điểm: chỉ nhập lớp/môn được phân công trong TKB - không ghi được lớp người khác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đầu bài: chỉ mở form ghi ở tiết mình dạy, tiết GV khác chỉ đọc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án: soạn → nộp tổ trưởng; bị trả về → sửa theo nhận xét → nộp lại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với GVCN gắn học sinh cụ thể; xem lịch coi thi/thi lớp mình dạy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2323744661354536e+50" dist="3.5210699032441527e+49" dir="1.9591041024000004e+59">
              <a:srgbClr val="000000">
                <a:alpha val="2.9999999999999996e+59"/>
              </a:srgbClr>
            </a:outerShdw>
          </a:effectLst>
        </p:spPr>
      </p:sp>
      <p:pic>
        <p:nvPicPr>
          <p:cNvPr id="10" name="Image 0" descr="docs/user-guide/images/09-period-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đầu bài - chỉ tiết mình dạy mới ghi được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 TRƯỞNG CHUYÊN MÔN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Duyệt giáo án &amp; sinh hoạt chuyên môn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Duyệt giáo án: queue GV trong tổ nộp → 'AI gợi ý nhận xét' → Duyệt / Trả về kèm nhận xét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Duyệt đánh giá năng lực: xét đánh giá tự chấm của GV trong tổ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Sinh hoạt chuyên môn: tạo buổi (chủ đề, ngày, ghi chú) → AI soạn biên bản từ ghi chú nhanh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hỏi: filter 'Môn của tổ tôi' - duyệt lớp 1 trước BGH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5651155719920262e+54" dist="4.471758777120074e+53" dir="1.1754624614400003e+64">
              <a:srgbClr val="000000">
                <a:alpha val="2.9999999999999996e+64"/>
              </a:srgbClr>
            </a:outerShdw>
          </a:effectLst>
        </p:spPr>
      </p:sp>
      <p:pic>
        <p:nvPicPr>
          <p:cNvPr id="10" name="Image 0" descr="docs/user-guide/images/26-team-lesson-pl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Hàng chờ duyệt giáo án của tổ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 GIÁM HIỆU / PHT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hành trường - phạm vi và quyền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cấp trường + Trung tâm phê duyệt + Báo cáo ngày các lớp + Radar cảnh báo sớm (AI đề xuất can thiệp)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Trợ lý điều hành AI: chat hỏi-đáp trên số liệu thật của trường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TKB toàn trường + Import Excel hàng loạt (ô 'Môn|GV|Phòng'); điều động dạy thay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BGH: ký duyệt sổ CN, phân công năm học, quản trị tài khoản - PHT KHÔNG có 3 quyền này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PHT giới hạn theo cơ sở (duclm@nd.scn chỉ thấy Cơ sở 2)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9876967764298733e+58" dist="5.679133646942494e+57" dir="7.052774768640002e+68">
              <a:srgbClr val="000000">
                <a:alpha val="2.9999999999999995e+69"/>
              </a:srgbClr>
            </a:outerShdw>
          </a:effectLst>
        </p:spPr>
      </p:sp>
      <p:pic>
        <p:nvPicPr>
          <p:cNvPr id="10" name="Image 0" descr="docs/user-guide/images/23-bgh-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Radar cảnh báo sớm toàn trường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TOÁN &amp; SỞ GD / UBND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Hành chính - giám sát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toán: nhân sự, cơ sở vật chất, thiết bị, báo cáo tài chính NQ37 - KHÔNG thấy hồ sơ học tập HS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Sở GD: dashboard các trường + AI bản tin; tạo trường mới (tự năm học, tổ, môn, tài khoản BGH)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trị dữ liệu: kiểm tra toàn vẹn - lớp thiếu GVCN, HS chưa có tổ/PH, liên kết mồ côi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UBND xã: dashboard địa bàn chỉ đọc (theo mô hình chính quyền 2 cấp)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524374906065939e+62" dist="7.212499731616968e+61" dir="4.2316648611840007e+73">
              <a:srgbClr val="000000">
                <a:alpha val="2.9999999999999995e+74"/>
              </a:srgbClr>
            </a:outerShdw>
          </a:effectLst>
        </p:spPr>
      </p:sp>
      <p:pic>
        <p:nvPicPr>
          <p:cNvPr id="10" name="Image 0" descr="docs/user-guide/images/28-dep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Sở GD&amp;ĐT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PHỤ HUYNH &amp; HỌC SINH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Cổng thông tin hai chiều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 nhiều con: bộ chọn con trên đầu portal - dữ liệu tách đúng từng em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 nhắn 2 chiều với GVCN; đặt lịch hẹn chờ xác nhận; đăng ký hoạt động / báo vắng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HS: TKB, điểm HK1/HK2/CN, hạnh kiểm, học bạ cá nhân (/portal/student/hoc-ba) - chỉ đọc, server kiểm quyền sở hữu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Mẹo: Ctrl+K tìm nhanh chức năng/HS; URL chứa ngày - bookmark được; mọi Import có 'Tải template'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2059561307037426e+66" dist="9.15987465915355e+65" dir="2.5389989167104004e+78">
              <a:srgbClr val="000000">
                <a:alpha val="3e+79"/>
              </a:srgbClr>
            </a:outerShdw>
          </a:effectLst>
        </p:spPr>
      </p:sp>
      <p:pic>
        <p:nvPicPr>
          <p:cNvPr id="10" name="Image 0" descr="docs/user-guide/images/30-parent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phụ huynh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Khác biệt so với nền tảng thông thường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Bám quy định thật: YCCĐ CTGDPT 2018 chi tiết đến strand; TT22/2021; CV 5512 cho KHBĐ; TT 15/2026 điều lệ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kiêm nhiệm đúng thực tế trường VN - tính nhất quán UI/action/RLS, audit tự động menu theo quyền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trường + duyệt 2 lớp + audit trail - kiểm soát chất lượng đề như trường thật vận hành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Hình học deterministic (không AI ảo) + xuất Word Equation native - in thi thật dùng được ngay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 linh hoạt (Gemini/OpenAI/Anthropic qua env) + sanitizer + fallback rule-based - không chết khi hết quota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RLS nghiêm + trigger chống leo quyền + DPIA theo Luật 91/2025 - sẵn sàng pilot liên trường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kịch bản ưu tiên rà soát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KIÊM NHIỆM: anhptl@nd.scn thấy 3 nhãn vai trò + menu gộp + vào /team/* được; minhtv@nd.scn vào /team/* bị chặn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NỘI DUNG: KHBĐ đúng khung CV 5512 (5 phần a-đ); đề đúng ma trận, thang điểm, đáp án; YCCĐ gán khớp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WORKFLOW: đóng góp → duyệt tổ → duyệt BGH → notification đúng người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QUYỀN: PHT chỉ thấy Cơ sở 2; PH chỉ thấy con mình; UBND chỉ đọc; trường A không thấy trường B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ONBOARDING: bootstrap workbook lên trường scratch → verify counts → cleanup về 0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CASES: câu 'như hình' không hình bị chặn; import sai format báo rõ; câu trùng stem cảnh báo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BẠ SỐ: anhptl@nd.scn trình quyết định → hainv@nd.scn trả lại/duyệt → khóa qua /register/lock-records; GVCN lớp khác (huynq@nd.scn) mở chi tiết/xuất bị chặn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KÈM THEO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hồ sơ đầy đủ trong docs/user-guide/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Tài liệu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Nội dung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HUONG-DAN-SU-DUNG.md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Thao tác chi tiết theo từng vai trò (kèm kiêm nhiệm), 31 ảnh màn hình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KHOI-TAO-TRUONG-MOI.md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Đưa trường mới lên từ con số 0 - giao diện hoặc import hàng loạt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khoi-tao-truong.xlsx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Workbook mẫu 8 sheet để khởi tạo trường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KICH-BAN-DEMO.md / .pptx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Kịch bản demo 15/10 theo luồng vai trò - tài khoản, đường đi, kết quả kỳ vọng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MO-TA-CHUC-NANG.md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 tả chi tiết module, ma trận vai trò, luồng nghiệp vụ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SO-CHU-NHIEM-SO-TAI-LIEU.docx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Bản Word gộp - in/phát hành nội bộ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5720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này là bản duy nhất gộp hướng dẫn + giới thiệu (thay thế SO-CHU-NHIEM-SO-GIOI-THIEU.pptx cũ)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Tái sinh file này: node scripts/gen-user-guide-pptx.mjs; workbook mẫu: gen-init-template.mjs; kịch bản demo: gen-demo-pptx.mjs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2026-10-26T12:04:25Z</dcterms:created>
  <dcterms:modified xsi:type="dcterms:W3CDTF">2026-10-26T12:04:25Z</dcterms:modified>
</cp:coreProperties>
</file>